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Montserrat"/>
              </a:rPr>
              <a:t>OX</a:t>
            </a:r>
            <a:r>
              <a:rPr sz="5400" b="1">
                <a:solidFill>
                  <a:srgbClr val="45A59D"/>
                </a:solidFill>
                <a:latin typeface="Montserrat"/>
              </a:rPr>
              <a:t>.</a:t>
            </a:r>
            <a:r>
              <a:rPr sz="5400" b="1">
                <a:solidFill>
                  <a:srgbClr val="FFFFFF"/>
                </a:solidFill>
                <a:latin typeface="Montserrat"/>
              </a:rPr>
              <a:t>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00584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CFE6E2"/>
                </a:solidFill>
                <a:latin typeface="Lato"/>
              </a:rPr>
              <a:t>The Idiot's Guide to Building the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Embryo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1060704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CFE6E2"/>
                </a:solidFill>
                <a:latin typeface="Lato"/>
              </a:rPr>
              <a:t>A dead-simple, step-by-step plan for OX.assisted reproduction (OX.ar)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45A59D"/>
                </a:solidFill>
                <a:latin typeface="Montserrat"/>
              </a:rPr>
              <a:t>Module M-18  ·  Embryology Cycle Management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C7C7A"/>
                </a:solidFill>
                <a:latin typeface="Consolas"/>
              </a:rPr>
              <a:t>Repos: OxArFrontendReact (React)  +  OxArBackendReact (.NET Web API + Dataverse)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989320"/>
            <a:ext cx="3383280" cy="45720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100% SEPARATE FROM OX.gp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What are we building, in plain English?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21F20"/>
                </a:solidFill>
                <a:latin typeface="Lato"/>
              </a:rPr>
              <a:t>It's the </a:t>
            </a:r>
            <a:r>
              <a:rPr sz="1600" b="1">
                <a:solidFill>
                  <a:srgbClr val="2F7D76"/>
                </a:solidFill>
                <a:latin typeface="Lato"/>
              </a:rPr>
              <a:t>lab workspace embryologists and clinicians use</a:t>
            </a:r>
            <a:r>
              <a:rPr sz="1600" b="0">
                <a:solidFill>
                  <a:srgbClr val="221F20"/>
                </a:solidFill>
                <a:latin typeface="Lato"/>
              </a:rPr>
              <a:t> to run an IVF cycle: plan the day's events, record each procedure, grade embryos day by day, manage frozen storage, and keep the safety/witnessing record the law requires.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697480" cy="109728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18872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Worklist, cycle overview, consent &amp; 3-point 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109728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63240"/>
            <a:ext cx="118872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Egg collection, semen prep, insemination, fertilisation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743200"/>
            <a:ext cx="2697480" cy="109728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3063240"/>
            <a:ext cx="1188720" cy="45720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Day 0-7 embryo grading, then transfer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7432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743200"/>
            <a:ext cx="2697480" cy="109728"/>
          </a:xfrm>
          <a:prstGeom prst="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0" y="3063240"/>
            <a:ext cx="1188720" cy="4572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03320"/>
            <a:ext cx="21488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Freeze / thaw, biopsy, cryo tanks &amp; 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C7C7A"/>
                </a:solidFill>
                <a:latin typeface="Lato"/>
              </a:rPr>
              <a:t>The spec = 41 requirements (M18-000 … M18-040 + 1 new) across 23 data sheets. This deck tells you how to build it against the REAL OX.ar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READ TWICE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3 golden rules before you touch anything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3619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21F20"/>
                </a:solidFill>
                <a:latin typeface="Lato"/>
              </a:rPr>
              <a:t>Never mix with OX.gp.</a:t>
            </a:r>
            <a:r>
              <a:rPr sz="1700" b="0">
                <a:solidFill>
                  <a:srgbClr val="6C7C7A"/>
                </a:solidFill>
                <a:latin typeface="Lato"/>
              </a:rPr>
              <a:t> No shared code, entities, endpoints, assets or contracts. Only the two OX.ar repos + the OX.ar Dataverse org. If a task seems to need OX.gp —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720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7063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21F20"/>
                </a:solidFill>
                <a:latin typeface="Lato"/>
              </a:rPr>
              <a:t>Don't rebuild what exists.</a:t>
            </a:r>
            <a:r>
              <a:rPr sz="1700" b="0">
                <a:solidFill>
                  <a:srgbClr val="6C7C7A"/>
                </a:solidFill>
                <a:latin typeface="Lato"/>
              </a:rPr>
              <a:t> Dataverse already has bcrm_egg (the specimen) and bcrm_eggdetail (its day-by-day assessments). Reuse them. Add only the 15 missing workflow tables.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4164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0507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21F20"/>
                </a:solidFill>
                <a:latin typeface="Lato"/>
              </a:rPr>
              <a:t>Witnessing is not optional.</a:t>
            </a:r>
            <a:r>
              <a:rPr sz="1700" b="0">
                <a:solidFill>
                  <a:srgbClr val="6C7C7A"/>
                </a:solidFill>
                <a:latin typeface="Lato"/>
              </a:rPr>
              <a:t> Every critical step needs an independent second person. The app must BLOCK a procedure until a 3-point check passes. This is the law (HFEA).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806440"/>
            <a:ext cx="10881360" cy="566928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F7D76"/>
                </a:solidFill>
                <a:latin typeface="Montserrat"/>
              </a:rPr>
              <a:t>One specimen identity per egg/embryo, cradle to grave = safe traceability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How the pieces fit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554480"/>
            <a:ext cx="92354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1554480"/>
            <a:ext cx="146304" cy="105156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83080" y="1847088"/>
            <a:ext cx="265176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719072"/>
            <a:ext cx="58521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OxArFrontendReact  ·  a new /lab area (screens for the lab team)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06440" y="2615184"/>
            <a:ext cx="502920" cy="292608"/>
          </a:xfrm>
          <a:prstGeom prst="downArrow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3040" y="3044952"/>
            <a:ext cx="92354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3044952"/>
            <a:ext cx="146304" cy="1051560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83080" y="3337560"/>
            <a:ext cx="265176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.NET WEB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209544"/>
            <a:ext cx="58521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OxArBackendReact  ·  Controller → Service → CRMCoreRepository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06440" y="4105656"/>
            <a:ext cx="502920" cy="292608"/>
          </a:xfrm>
          <a:prstGeom prst="downArrow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63040" y="4535424"/>
            <a:ext cx="92354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63040" y="4535424"/>
            <a:ext cx="146304" cy="1051560"/>
          </a:xfrm>
          <a:prstGeom prst="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83080" y="4828032"/>
            <a:ext cx="2651760" cy="45720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DATAVERSE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0016"/>
            <a:ext cx="585216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21F20"/>
                </a:solidFill>
                <a:latin typeface="Lato"/>
              </a:rPr>
              <a:t>contact · bcrm_treatment_cycle · bcrm_egg · bcrm_eggdetail · +15 new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6126480"/>
            <a:ext cx="91440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Auth already exists: MSAL Azure AD B2C + the hmacauth token. Reuse it — build no new login.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THE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The order you build EVERY 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1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377440"/>
            <a:ext cx="502920" cy="50292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Dataverse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table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03704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D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53512" y="2377440"/>
            <a:ext cx="502920" cy="50292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2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API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endpoint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59936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15384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5A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09744" y="2377440"/>
            <a:ext cx="502920" cy="50292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6824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React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service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16168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1616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5A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65976" y="2377440"/>
            <a:ext cx="502920" cy="50292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React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screen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27848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F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22208" y="2377440"/>
            <a:ext cx="502920" cy="50292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Safety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gate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28632" y="2852928"/>
            <a:ext cx="146304" cy="237744"/>
          </a:xfrm>
          <a:prstGeom prst="rightArrow">
            <a:avLst/>
          </a:prstGeom>
          <a:solidFill>
            <a:srgbClr val="6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84080" y="2194560"/>
            <a:ext cx="169164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9E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378440" y="2377440"/>
            <a:ext cx="502920" cy="50292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71800"/>
            <a:ext cx="1508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Verify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1F20"/>
                </a:solidFill>
                <a:latin typeface="Montserrat"/>
              </a:rPr>
              <a:t>end-to-end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297680"/>
            <a:ext cx="110642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F4A4A"/>
                </a:solidFill>
                <a:latin typeface="Lato"/>
              </a:rPr>
              <a:t>Rule: </a:t>
            </a:r>
            <a:r>
              <a:rPr sz="1600" b="0">
                <a:solidFill>
                  <a:srgbClr val="221F20"/>
                </a:solidFill>
                <a:latin typeface="Lato"/>
              </a:rPr>
              <a:t>never start a screen before its table and endpoint exist. No mock data in real screens.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C7C7A"/>
                </a:solidFill>
                <a:latin typeface="Lato"/>
              </a:rPr>
              <a:t>Do the whole rhythm for one small slice, demo it, then move to the next. That's how the 5 phases (next slide) stay shippable.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5 phases — each one is demoable on its 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563624"/>
            <a:ext cx="457200" cy="45720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50876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0876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Confirm schema · create tables &amp; option sets · build the /lab shell + witness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2386584"/>
            <a:ext cx="45720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3172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33172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Worklist · cycle overview · consent + 3-point-check GATE working end-to-end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3209544"/>
            <a:ext cx="45720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15468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Procedures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15468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Egg collection (MII/MI/GV) · semen prep · insemination · fertilisation (PN board)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4032504"/>
            <a:ext cx="457200" cy="45720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97764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Lab Culture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97764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The Day 0-7 development grid (Gardner grades) · transfer · live KPIs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0916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4855464"/>
            <a:ext cx="457200" cy="4572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80060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Cryo &amp;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0060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Tanks &amp; inventory · freeze/thaw/biopsy · witnessing log · research banner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3232" y="5678424"/>
            <a:ext cx="457200" cy="457200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623560"/>
            <a:ext cx="2286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Montserrat"/>
              </a:rPr>
              <a:t>Reports &amp; Manager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623560"/>
            <a:ext cx="77724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C7C7A"/>
                </a:solidFill>
                <a:latin typeface="Lato"/>
              </a:rPr>
              <a:t>Outcome reports &amp; letters · lab worksheet · manager correct/delete (audited)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BACKEND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Adding one feature = 4 files (copy an existing one)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1. DTO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5179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TaskService.DataTransferObjects/&lt;Area&gt;/XxxDTO.cs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plain properties (copy StoredSampleDTO)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2.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4323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TaskService.Services/&lt;Area&gt;/IXxxService.cs + XxxService.cs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reads = FetchXML · writes = 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461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649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3. 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3467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TaskService/Controllers/XxxController.cs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[Authorize] + [RoutePrefix] · copy an existing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11064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4. (Repository)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261104"/>
            <a:ext cx="85039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1F20"/>
                </a:solidFill>
                <a:latin typeface="Consolas"/>
              </a:rPr>
              <a:t>no change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C7C7A"/>
                </a:solidFill>
                <a:latin typeface="Lato"/>
              </a:rPr>
              <a:t>reuse CRMCoreRepository.Create/Update/Delete/Get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21F20"/>
                </a:solidFill>
                <a:latin typeface="Lato"/>
              </a:rPr>
              <a:t>No dependency-injection wiring to touch. </a:t>
            </a:r>
            <a:r>
              <a:rPr sz="1400" b="0">
                <a:solidFill>
                  <a:srgbClr val="6C7C7A"/>
                </a:solidFill>
                <a:latin typeface="Lato"/>
              </a:rPr>
              <a:t>Attribute routing means a new controller just works. Test it in Swagger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F7D76"/>
                </a:solidFill>
                <a:latin typeface="Consolas"/>
              </a:rPr>
              <a:t>Idioms: OptionSetValue(int) · new EntityReference("logical", guid) · SpecifyKind(date, Utc) · run the ACSHelper guard.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FRONTEND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Adding one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36192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Put a route</a:t>
            </a:r>
            <a:r>
              <a:rPr sz="1550" b="0">
                <a:solidFill>
                  <a:srgbClr val="6C7C7A"/>
                </a:solidFill>
                <a:latin typeface="Lato"/>
              </a:rPr>
              <a:t> in src/Layout Component/Layout1.js under a new /lab tree (staff-only).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22576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Add API calls</a:t>
            </a:r>
            <a:r>
              <a:rPr sz="1550" b="0">
                <a:solidFill>
                  <a:srgbClr val="6C7C7A"/>
                </a:solidFill>
                <a:latin typeface="Lato"/>
              </a:rPr>
              <a:t> to one file: src/services/embryoApi.js (axios, same style as ProfileService.js).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72384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35808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Build the page</a:t>
            </a:r>
            <a:r>
              <a:rPr sz="1550" b="0">
                <a:solidFill>
                  <a:srgbClr val="6C7C7A"/>
                </a:solidFill>
                <a:latin typeface="Lato"/>
              </a:rPr>
              <a:t> in src/lab/pages/… — load in useEffect, write via embryoApi, toast the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22192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85616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Reuse components</a:t>
            </a:r>
            <a:r>
              <a:rPr sz="1550" b="0">
                <a:solidFill>
                  <a:srgbClr val="6C7C7A"/>
                </a:solidFill>
                <a:latin typeface="Lato"/>
              </a:rPr>
              <a:t> WitnessChip · StatusBadge · StatTile · PnBoard · DevelopmentGrid.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310896" cy="310896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35424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221F20"/>
                </a:solidFill>
                <a:latin typeface="Lato"/>
              </a:rPr>
              <a:t>Show the gate</a:t>
            </a:r>
            <a:r>
              <a:rPr sz="1550" b="0">
                <a:solidFill>
                  <a:srgbClr val="6C7C7A"/>
                </a:solidFill>
                <a:latin typeface="Lato"/>
              </a:rPr>
              <a:t> disable the button until the 3-point check passes &amp; witness ≠ performer.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669280"/>
            <a:ext cx="10881360" cy="64008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F7D76"/>
                </a:solidFill>
                <a:latin typeface="Montserrat"/>
              </a:rPr>
              <a:t>Keep ALL lab code in src/lab/ + embryoApi.js. Don't restyle the patient portal.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IT'S NOT READ-ONLY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Everything can be added, edited, updated &amp; deleted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Lato"/>
              </a:rPr>
              <a:t>Every record </a:t>
            </a:r>
            <a:r>
              <a:rPr sz="1600" b="0">
                <a:solidFill>
                  <a:srgbClr val="221F20"/>
                </a:solidFill>
                <a:latin typeface="Lato"/>
              </a:rPr>
              <a:t>— and every list that drives the forms (templates, tanks, sites, research projects) — is </a:t>
            </a:r>
            <a:r>
              <a:rPr sz="1600" b="1">
                <a:solidFill>
                  <a:srgbClr val="2F7D76"/>
                </a:solidFill>
                <a:latin typeface="Lato"/>
              </a:rPr>
              <a:t>fully read-write from the 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697480" cy="109728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468880"/>
            <a:ext cx="1828800" cy="4572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ADD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Create new rows. Every subgrid has an + Add button.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148840"/>
            <a:ext cx="2697480" cy="109728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2468880"/>
            <a:ext cx="1828800" cy="4572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EDIT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Partial update — send only what changed (incl. inline grid cells).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148840"/>
            <a:ext cx="2697480" cy="109728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468880"/>
            <a:ext cx="1828800" cy="45720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Soft-retire with a reason by default; hard delete = manager only.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148840"/>
            <a:ext cx="26974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148840"/>
            <a:ext cx="2697480" cy="109728"/>
          </a:xfrm>
          <a:prstGeom prst="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0" y="2468880"/>
            <a:ext cx="1828800" cy="4572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MANAGE 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108960"/>
            <a:ext cx="21488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Templates, cryo tanks, research projects — CRUD, no developer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26280"/>
            <a:ext cx="11064240" cy="13716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45152"/>
            <a:ext cx="1060704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F7D76"/>
                </a:solidFill>
                <a:latin typeface="Montserrat"/>
              </a:rPr>
              <a:t>Guardrails when editing clinical data: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Concurrency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two people, one cycle → 409 on a clash, reload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Audit trail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Dataverse logs every field 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Role-gated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view / edit / delete by role (403 on server)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074920"/>
            <a:ext cx="260604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221F20"/>
                </a:solidFill>
                <a:latin typeface="Lato"/>
              </a:rPr>
              <a:t>Correct &amp; re-enter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managers fix locked data with a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The safety gates (enforce on the SERVER too)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566160" cy="9144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Independent witness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reject if witness = performer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91440"/>
          </a:xfrm>
          <a:prstGeom prst="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190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3-point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128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no procedure starts until it PASSES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4630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463040"/>
            <a:ext cx="3566160" cy="91440"/>
          </a:xfrm>
          <a:prstGeom prst="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7190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Consent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2128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cycle must be 'ready for procedure'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632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063240"/>
            <a:ext cx="3566160" cy="91440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192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ICSI = MII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130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only mature (MII) eggs go to ICSI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0632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063240"/>
            <a:ext cx="3566160" cy="91440"/>
          </a:xfrm>
          <a:prstGeom prst="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33192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2PN = normal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8130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flag 0PN / 1PN / 3PN as abnormal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063240"/>
            <a:ext cx="35661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063240"/>
            <a:ext cx="3566160" cy="9144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3319272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1F20"/>
                </a:solidFill>
                <a:latin typeface="Montserrat"/>
              </a:rPr>
              <a:t>Carry-over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81304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C7C7A"/>
                </a:solidFill>
                <a:latin typeface="Lato"/>
              </a:rPr>
              <a:t>un-fated embryos roll to next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F4A4A"/>
                </a:solidFill>
                <a:latin typeface="Lato"/>
              </a:rPr>
              <a:t>Why server-side? </a:t>
            </a:r>
            <a:r>
              <a:rPr sz="1400" b="0">
                <a:solidFill>
                  <a:srgbClr val="221F20"/>
                </a:solidFill>
                <a:latin typeface="Lato"/>
              </a:rPr>
              <a:t>The UI can be bypassed. The API is the last line of defence for patient safety.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The clinical words you must get right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MII / MI / GV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490472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egg maturity. Only MII (mature) can be ICSI-inseminated.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02536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PN (pronuclei)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075688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checked ~16-18h after insemination. 2PN = normal fertilisation.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87752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60904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PB (polar body)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660904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recorded alongside PN at the fertilisation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72968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46120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Gardner grade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246120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blastocyst = expansion 1-6 + ICM (A/B/C) + TE (A/B/C), e.g. 4AA.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31336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Fragmentation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831336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cleavage-stage quality; high = worse.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43400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16552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Vienna KPIs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416552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benchmarks, e.g. Day-5 blastocyst rate 44-80% of 2PN zygotes.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928616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001768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Istanbul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001768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the current ESHRE/ALPHA grading standard the terminology follows.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13832"/>
            <a:ext cx="11064240" cy="566928"/>
          </a:xfrm>
          <a:prstGeom prst="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586984"/>
            <a:ext cx="2926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F7D76"/>
                </a:solidFill>
                <a:latin typeface="Montserrat"/>
              </a:rPr>
              <a:t>Double witnessing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586984"/>
            <a:ext cx="7680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independent 2nd person on every critical step (HFEA).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MAKE IT LOOK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Branding cheat sheet (match the prototype)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1F20"/>
                </a:solidFill>
                <a:latin typeface="Lato"/>
              </a:rPr>
              <a:t>Fonts:  </a:t>
            </a:r>
            <a:r>
              <a:rPr sz="1500" b="1">
                <a:solidFill>
                  <a:srgbClr val="2F7D76"/>
                </a:solidFill>
                <a:latin typeface="Montserrat"/>
              </a:rPr>
              <a:t>Montserrat</a:t>
            </a:r>
            <a:r>
              <a:rPr sz="1400" b="0">
                <a:solidFill>
                  <a:srgbClr val="6C7C7A"/>
                </a:solidFill>
                <a:latin typeface="Lato"/>
              </a:rPr>
              <a:t> headings · </a:t>
            </a:r>
            <a:r>
              <a:rPr sz="1500" b="1">
                <a:solidFill>
                  <a:srgbClr val="2F7D76"/>
                </a:solidFill>
                <a:latin typeface="Lato"/>
              </a:rPr>
              <a:t>Lato</a:t>
            </a:r>
            <a:r>
              <a:rPr sz="1400" b="0">
                <a:solidFill>
                  <a:srgbClr val="6C7C7A"/>
                </a:solidFill>
                <a:latin typeface="Lato"/>
              </a:rPr>
              <a:t> body · </a:t>
            </a:r>
            <a:r>
              <a:rPr sz="1500" b="1">
                <a:solidFill>
                  <a:srgbClr val="2F7D76"/>
                </a:solidFill>
                <a:latin typeface="Consolas"/>
              </a:rPr>
              <a:t>JetBrains Mono</a:t>
            </a:r>
            <a:r>
              <a:rPr sz="1400" b="0">
                <a:solidFill>
                  <a:srgbClr val="6C7C7A"/>
                </a:solidFill>
                <a:latin typeface="Lato"/>
              </a:rPr>
              <a:t> for IDs &amp; lab numbers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783080" cy="1371600"/>
          </a:xfrm>
          <a:prstGeom prst="round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#45a59d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aqua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148840"/>
            <a:ext cx="1783080" cy="1371600"/>
          </a:xfrm>
          <a:prstGeom prst="round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#2f7d76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buttons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2148840"/>
            <a:ext cx="1783080" cy="1371600"/>
          </a:xfrm>
          <a:prstGeom prst="round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#2f9e6f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normal /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148840"/>
            <a:ext cx="1783080" cy="1371600"/>
          </a:xfrm>
          <a:prstGeom prst="roundRect">
            <a:avLst/>
          </a:prstGeom>
          <a:solidFill>
            <a:srgbClr val="C98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#c9821c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148840"/>
            <a:ext cx="1783080" cy="1371600"/>
          </a:xfrm>
          <a:prstGeom prst="roundRect">
            <a:avLst/>
          </a:prstGeom>
          <a:solidFill>
            <a:srgbClr val="CF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#cf4a4a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abnormal / fail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148840"/>
            <a:ext cx="1783080" cy="1371600"/>
          </a:xfrm>
          <a:prstGeom prst="roundRect">
            <a:avLst/>
          </a:prstGeom>
          <a:solidFill>
            <a:srgbClr val="7A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5603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#7a5cc0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92608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Lato"/>
              </a:rPr>
              <a:t>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41648"/>
            <a:ext cx="128016" cy="128016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3913632"/>
            <a:ext cx="10661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21F20"/>
                </a:solidFill>
                <a:latin typeface="Lato"/>
              </a:rPr>
              <a:t>Colour is never the only signal</a:t>
            </a:r>
            <a:r>
              <a:rPr sz="1450" b="0">
                <a:solidFill>
                  <a:srgbClr val="6C7C7A"/>
                </a:solidFill>
                <a:latin typeface="Lato"/>
              </a:rPr>
              <a:t> — always pair it with a label or icon (safety-critical, colour-blind-safe).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700016"/>
            <a:ext cx="128016" cy="128016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572000"/>
            <a:ext cx="10661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21F20"/>
                </a:solidFill>
                <a:latin typeface="Lato"/>
              </a:rPr>
              <a:t>Every specimen ID &amp; lab value</a:t>
            </a:r>
            <a:r>
              <a:rPr sz="1450" b="0">
                <a:solidFill>
                  <a:srgbClr val="6C7C7A"/>
                </a:solidFill>
                <a:latin typeface="Lato"/>
              </a:rPr>
              <a:t> renders in monospace so numbers line up.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58384"/>
            <a:ext cx="128016" cy="128016"/>
          </a:xfrm>
          <a:prstGeom prst="rect">
            <a:avLst/>
          </a:prstGeom>
          <a:solidFill>
            <a:srgbClr val="2F7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230368"/>
            <a:ext cx="10661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21F20"/>
                </a:solidFill>
                <a:latin typeface="Lato"/>
              </a:rPr>
              <a:t>All demo data stays synthetic</a:t>
            </a:r>
            <a:r>
              <a:rPr sz="1450" b="0">
                <a:solidFill>
                  <a:srgbClr val="6C7C7A"/>
                </a:solidFill>
                <a:latin typeface="Lato"/>
              </a:rPr>
              <a:t> — SAMPLE / MODEL / DEMO / PROTO patients only.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45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7D76"/>
                </a:solidFill>
                <a:latin typeface="Montserrat"/>
              </a:rPr>
              <a:t>FINISH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221F20"/>
                </a:solidFill>
                <a:latin typeface="Montserrat"/>
              </a:rPr>
              <a:t>"Done" checklist  +  where everything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292608"/>
            <a:ext cx="566928" cy="457200"/>
          </a:xfrm>
          <a:prstGeom prst="roundRect">
            <a:avLst/>
          </a:prstGeom>
          <a:solidFill>
            <a:srgbClr val="EA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2F7D76"/>
                </a:solidFill>
                <a:latin typeface="Montserrat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5836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6126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F7D76"/>
                </a:solidFill>
                <a:latin typeface="Montserrat"/>
              </a:rPr>
              <a:t>Definition of Done (every slice)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09397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3911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Table exists in the OXAR_EmbryoModule solution (option sets + relationships)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7919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Endpoint smoke-tested in Swagger; lookups &amp; option sets round-trip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37413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31927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React screen wired to the LIVE endpoint (no mock data)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01421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95935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Witness / consent / eligibility rules enforced server-side AND shown in UI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65429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9943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Brand matches the prototype; IDs &amp; values in mono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294376"/>
            <a:ext cx="256032" cy="256032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239512"/>
            <a:ext cx="57607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21F20"/>
                </a:solidFill>
                <a:latin typeface="Lato"/>
              </a:rPr>
              <a:t>Requirement ticked; MIVF / SME notified for clinical sign-off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1371600"/>
            <a:ext cx="4297680" cy="4480560"/>
          </a:xfrm>
          <a:prstGeom prst="roundRect">
            <a:avLst/>
          </a:prstGeom>
          <a:solidFill>
            <a:srgbClr val="22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554480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45A59D"/>
                </a:solidFill>
                <a:latin typeface="Montserrat"/>
              </a:rPr>
              <a:t>The full guide (5 docs)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057400"/>
            <a:ext cx="3840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README.md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FE6E2"/>
                </a:solidFill>
                <a:latin typeface="Lato"/>
              </a:rPr>
              <a:t>master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633472"/>
            <a:ext cx="3840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03-FRONTEND-GUIDE.md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FE6E2"/>
                </a:solidFill>
                <a:latin typeface="Lato"/>
              </a:rPr>
              <a:t>React build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209544"/>
            <a:ext cx="3840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01-DATA-MODEL.md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FE6E2"/>
                </a:solidFill>
                <a:latin typeface="Lato"/>
              </a:rPr>
              <a:t>entities &amp; fields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785616"/>
            <a:ext cx="3840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02-API-GUIDE.md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FE6E2"/>
                </a:solidFill>
                <a:latin typeface="Lato"/>
              </a:rPr>
              <a:t>endpoints &amp;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61688"/>
            <a:ext cx="3840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04-CRUD-AND-EDITING.md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FE6E2"/>
                </a:solidFill>
                <a:latin typeface="Lato"/>
              </a:rPr>
              <a:t>add / edit / delete + 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074920"/>
            <a:ext cx="38404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C7C7A"/>
                </a:solidFill>
                <a:latin typeface="Lato"/>
              </a:rPr>
              <a:t>In docs/embryo-module/ on branch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5A59D"/>
                </a:solidFill>
                <a:latin typeface="Consolas"/>
              </a:rPr>
              <a:t>claude/oxar-embryo-module-prototype-tks4fi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