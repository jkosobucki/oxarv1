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1F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286000"/>
          </a:xfrm>
          <a:prstGeom prst="rect">
            <a:avLst/>
          </a:prstGeom>
          <a:solidFill>
            <a:srgbClr val="221F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60520"/>
            <a:ext cx="12191695" cy="50800"/>
          </a:xfrm>
          <a:prstGeom prst="rect">
            <a:avLst/>
          </a:prstGeom>
          <a:solidFill>
            <a:srgbClr val="45A5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73152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5400" b="1">
                <a:solidFill>
                  <a:srgbClr val="FFFFFF"/>
                </a:solidFill>
                <a:latin typeface="Montserrat"/>
              </a:rPr>
              <a:t>OX</a:t>
            </a:r>
            <a:r>
              <a:rPr sz="5400" b="1">
                <a:solidFill>
                  <a:srgbClr val="45A59D"/>
                </a:solidFill>
                <a:latin typeface="Montserrat"/>
              </a:rPr>
              <a:t>.</a:t>
            </a:r>
            <a:r>
              <a:rPr sz="5400" b="1">
                <a:solidFill>
                  <a:srgbClr val="FFFFFF"/>
                </a:solidFill>
                <a:latin typeface="Montserrat"/>
              </a:rPr>
              <a:t>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468880"/>
            <a:ext cx="10058400" cy="12801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>
                <a:solidFill>
                  <a:srgbClr val="CFE6E2"/>
                </a:solidFill>
                <a:latin typeface="Lato"/>
              </a:rPr>
              <a:t>The Idiot's Guide to Building the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FFFFF"/>
                </a:solidFill>
                <a:latin typeface="Montserrat"/>
              </a:rPr>
              <a:t>Embryo Module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389120"/>
            <a:ext cx="10607040" cy="18288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CFE6E2"/>
                </a:solidFill>
                <a:latin typeface="Lato"/>
              </a:rPr>
              <a:t>A dead-simple, step-by-step plan for OX.assisted reproduction (OX.ar)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45A59D"/>
                </a:solidFill>
                <a:latin typeface="Montserrat"/>
              </a:rPr>
              <a:t>Module M-18  ·  Embryology Cycle Management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>
                <a:solidFill>
                  <a:srgbClr val="6C7C7A"/>
                </a:solidFill>
                <a:latin typeface="Consolas"/>
              </a:rPr>
              <a:t>Repos: OxArFrontendReact (React)  +  OxArBackendReact (.NET Web API + Dataverse)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5989320"/>
            <a:ext cx="3383280" cy="457200"/>
          </a:xfrm>
          <a:prstGeom prst="roundRect">
            <a:avLst/>
          </a:prstGeom>
          <a:solidFill>
            <a:srgbClr val="CF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Montserrat"/>
              </a:rPr>
              <a:t>100% SEPARATE FROM OX.gp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45A5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0584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F7D76"/>
                </a:solidFill>
                <a:latin typeface="Montserrat"/>
              </a:rPr>
              <a:t>START HERE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02336"/>
            <a:ext cx="1051560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221F20"/>
                </a:solidFill>
                <a:latin typeface="Montserrat"/>
              </a:rPr>
              <a:t>What are we building, in plain English?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292840" y="292608"/>
            <a:ext cx="566928" cy="457200"/>
          </a:xfrm>
          <a:prstGeom prst="roundRect">
            <a:avLst/>
          </a:prstGeom>
          <a:solidFill>
            <a:srgbClr val="EA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>
                <a:solidFill>
                  <a:srgbClr val="2F7D76"/>
                </a:solidFill>
                <a:latin typeface="Montserrat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11064240" cy="10972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221F20"/>
                </a:solidFill>
                <a:latin typeface="Lato"/>
              </a:rPr>
              <a:t>It's the </a:t>
            </a:r>
            <a:r>
              <a:rPr sz="1600" b="1">
                <a:solidFill>
                  <a:srgbClr val="2F7D76"/>
                </a:solidFill>
                <a:latin typeface="Lato"/>
              </a:rPr>
              <a:t>lab workspace embryologists and clinicians use</a:t>
            </a:r>
            <a:r>
              <a:rPr sz="1600" b="0">
                <a:solidFill>
                  <a:srgbClr val="221F20"/>
                </a:solidFill>
                <a:latin typeface="Lato"/>
              </a:rPr>
              <a:t> to run an IVF cycle: plan the day's events, record each procedure, grade embryos day by day, manage frozen storage, and keep the safety/witnessing record the law requires.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743200"/>
            <a:ext cx="269748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743200"/>
            <a:ext cx="2697480" cy="109728"/>
          </a:xfrm>
          <a:prstGeom prst="rect">
            <a:avLst/>
          </a:prstGeom>
          <a:solidFill>
            <a:srgbClr val="45A5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22960" y="3063240"/>
            <a:ext cx="1188720" cy="457200"/>
          </a:xfrm>
          <a:prstGeom prst="roundRect">
            <a:avLst/>
          </a:prstGeom>
          <a:solidFill>
            <a:srgbClr val="45A5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Montserrat"/>
              </a:rPr>
              <a:t>PLAN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703320"/>
            <a:ext cx="2148840" cy="12801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221F20"/>
                </a:solidFill>
                <a:latin typeface="Lato"/>
              </a:rPr>
              <a:t>Worklist, cycle overview, consent &amp; 3-point check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83280" y="2743200"/>
            <a:ext cx="269748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83280" y="2743200"/>
            <a:ext cx="2697480" cy="109728"/>
          </a:xfrm>
          <a:prstGeom prst="rect">
            <a:avLst/>
          </a:prstGeom>
          <a:solidFill>
            <a:srgbClr val="2F7D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657600" y="3063240"/>
            <a:ext cx="1188720" cy="457200"/>
          </a:xfrm>
          <a:prstGeom prst="roundRect">
            <a:avLst/>
          </a:prstGeom>
          <a:solidFill>
            <a:srgbClr val="2F7D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Montserrat"/>
              </a:rPr>
              <a:t>DO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3703320"/>
            <a:ext cx="2148840" cy="12801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221F20"/>
                </a:solidFill>
                <a:latin typeface="Lato"/>
              </a:rPr>
              <a:t>Egg collection, semen prep, insemination, fertilisation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2743200"/>
            <a:ext cx="269748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17920" y="2743200"/>
            <a:ext cx="2697480" cy="109728"/>
          </a:xfrm>
          <a:prstGeom prst="rect">
            <a:avLst/>
          </a:prstGeom>
          <a:solidFill>
            <a:srgbClr val="2F9E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92240" y="3063240"/>
            <a:ext cx="1188720" cy="457200"/>
          </a:xfrm>
          <a:prstGeom prst="roundRect">
            <a:avLst/>
          </a:prstGeom>
          <a:solidFill>
            <a:srgbClr val="2F9E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Montserrat"/>
              </a:rPr>
              <a:t>GROW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703320"/>
            <a:ext cx="2148840" cy="12801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221F20"/>
                </a:solidFill>
                <a:latin typeface="Lato"/>
              </a:rPr>
              <a:t>Day 0-7 embryo grading, then transfer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52560" y="2743200"/>
            <a:ext cx="269748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52560" y="2743200"/>
            <a:ext cx="2697480" cy="109728"/>
          </a:xfrm>
          <a:prstGeom prst="rect">
            <a:avLst/>
          </a:prstGeom>
          <a:solidFill>
            <a:srgbClr val="7A5C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326880" y="3063240"/>
            <a:ext cx="1188720" cy="457200"/>
          </a:xfrm>
          <a:prstGeom prst="roundRect">
            <a:avLst/>
          </a:prstGeom>
          <a:solidFill>
            <a:srgbClr val="7A5C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Montserrat"/>
              </a:rPr>
              <a:t>STORE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0" y="3703320"/>
            <a:ext cx="2148840" cy="12801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221F20"/>
                </a:solidFill>
                <a:latin typeface="Lato"/>
              </a:rPr>
              <a:t>Freeze / thaw, biopsy, cryo tanks &amp; inventory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5349240"/>
            <a:ext cx="1097280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6C7C7A"/>
                </a:solidFill>
                <a:latin typeface="Lato"/>
              </a:rPr>
              <a:t>The spec = 41 requirements (M18-000 … M18-040 + 1 new) across 23 data sheets. This deck tells you how to build it against the REAL OX.ar code.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45A5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0584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F7D76"/>
                </a:solidFill>
                <a:latin typeface="Montserrat"/>
              </a:rPr>
              <a:t>READ TWICE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02336"/>
            <a:ext cx="1051560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221F20"/>
                </a:solidFill>
                <a:latin typeface="Montserrat"/>
              </a:rPr>
              <a:t>3 golden rules before you touch anything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292840" y="292608"/>
            <a:ext cx="566928" cy="457200"/>
          </a:xfrm>
          <a:prstGeom prst="roundRect">
            <a:avLst/>
          </a:prstGeom>
          <a:solidFill>
            <a:srgbClr val="EA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>
                <a:solidFill>
                  <a:srgbClr val="2F7D76"/>
                </a:solidFill>
                <a:latin typeface="Montserrat"/>
              </a:rP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572768"/>
            <a:ext cx="310896" cy="310896"/>
          </a:xfrm>
          <a:prstGeom prst="roundRect">
            <a:avLst/>
          </a:prstGeom>
          <a:solidFill>
            <a:srgbClr val="45A5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1536192"/>
            <a:ext cx="105156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221F20"/>
                </a:solidFill>
                <a:latin typeface="Lato"/>
              </a:rPr>
              <a:t>Never mix with OX.gp.</a:t>
            </a:r>
            <a:r>
              <a:rPr sz="1700" b="0">
                <a:solidFill>
                  <a:srgbClr val="6C7C7A"/>
                </a:solidFill>
                <a:latin typeface="Lato"/>
              </a:rPr>
              <a:t> No shared code, entities, endpoints, assets or contracts. Only the two OX.ar repos + the OX.ar Dataverse org. If a task seems to need OX.gp — STOP.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807208"/>
            <a:ext cx="310896" cy="310896"/>
          </a:xfrm>
          <a:prstGeom prst="roundRect">
            <a:avLst/>
          </a:prstGeom>
          <a:solidFill>
            <a:srgbClr val="45A5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770632"/>
            <a:ext cx="105156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221F20"/>
                </a:solidFill>
                <a:latin typeface="Lato"/>
              </a:rPr>
              <a:t>Don't rebuild what exists.</a:t>
            </a:r>
            <a:r>
              <a:rPr sz="1700" b="0">
                <a:solidFill>
                  <a:srgbClr val="6C7C7A"/>
                </a:solidFill>
                <a:latin typeface="Lato"/>
              </a:rPr>
              <a:t> Dataverse already has bcrm_egg (the specimen) and bcrm_eggdetail (its day-by-day assessments). Reuse them. Add only the 15 missing workflow tables.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041648"/>
            <a:ext cx="310896" cy="310896"/>
          </a:xfrm>
          <a:prstGeom prst="roundRect">
            <a:avLst/>
          </a:prstGeom>
          <a:solidFill>
            <a:srgbClr val="45A5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005072"/>
            <a:ext cx="105156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221F20"/>
                </a:solidFill>
                <a:latin typeface="Lato"/>
              </a:rPr>
              <a:t>Witnessing is not optional.</a:t>
            </a:r>
            <a:r>
              <a:rPr sz="1700" b="0">
                <a:solidFill>
                  <a:srgbClr val="6C7C7A"/>
                </a:solidFill>
                <a:latin typeface="Lato"/>
              </a:rPr>
              <a:t> Every critical step needs an independent second person. The app must BLOCK a procedure until a 3-point check passes. This is the law (HFEA).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5806440"/>
            <a:ext cx="10881360" cy="566928"/>
          </a:xfrm>
          <a:prstGeom prst="roundRect">
            <a:avLst/>
          </a:prstGeom>
          <a:solidFill>
            <a:srgbClr val="EA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2F7D76"/>
                </a:solidFill>
                <a:latin typeface="Montserrat"/>
              </a:rPr>
              <a:t>One specimen identity per egg/embryo, cradle to grave = safe traceability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45A5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0584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F7D76"/>
                </a:solidFill>
                <a:latin typeface="Montserrat"/>
              </a:rPr>
              <a:t>THE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02336"/>
            <a:ext cx="1051560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221F20"/>
                </a:solidFill>
                <a:latin typeface="Montserrat"/>
              </a:rPr>
              <a:t>How the pieces fit together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292840" y="292608"/>
            <a:ext cx="566928" cy="457200"/>
          </a:xfrm>
          <a:prstGeom prst="roundRect">
            <a:avLst/>
          </a:prstGeom>
          <a:solidFill>
            <a:srgbClr val="EA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>
                <a:solidFill>
                  <a:srgbClr val="2F7D76"/>
                </a:solidFill>
                <a:latin typeface="Montserrat"/>
              </a:rPr>
              <a:t>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63040" y="1554480"/>
            <a:ext cx="923544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463040" y="1554480"/>
            <a:ext cx="146304" cy="1051560"/>
          </a:xfrm>
          <a:prstGeom prst="rect">
            <a:avLst/>
          </a:prstGeom>
          <a:solidFill>
            <a:srgbClr val="45A5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783080" y="1847088"/>
            <a:ext cx="2651760" cy="457200"/>
          </a:xfrm>
          <a:prstGeom prst="roundRect">
            <a:avLst/>
          </a:prstGeom>
          <a:solidFill>
            <a:srgbClr val="45A5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REACT FRONTEND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1719072"/>
            <a:ext cx="5852160" cy="8229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221F20"/>
                </a:solidFill>
                <a:latin typeface="Lato"/>
              </a:rPr>
              <a:t>OxArFrontendReact  ·  a new /lab area (screens for the lab team)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5806440" y="2615184"/>
            <a:ext cx="502920" cy="292608"/>
          </a:xfrm>
          <a:prstGeom prst="downArrow">
            <a:avLst/>
          </a:prstGeom>
          <a:solidFill>
            <a:srgbClr val="45A5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463040" y="3044952"/>
            <a:ext cx="923544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463040" y="3044952"/>
            <a:ext cx="146304" cy="1051560"/>
          </a:xfrm>
          <a:prstGeom prst="rect">
            <a:avLst/>
          </a:prstGeom>
          <a:solidFill>
            <a:srgbClr val="2F7D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783080" y="3337560"/>
            <a:ext cx="2651760" cy="457200"/>
          </a:xfrm>
          <a:prstGeom prst="roundRect">
            <a:avLst/>
          </a:prstGeom>
          <a:solidFill>
            <a:srgbClr val="2F7D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.NET WEB API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3209544"/>
            <a:ext cx="5852160" cy="8229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221F20"/>
                </a:solidFill>
                <a:latin typeface="Lato"/>
              </a:rPr>
              <a:t>OxArBackendReact  ·  Controller → Service → CRMCoreRepository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5806440" y="4105656"/>
            <a:ext cx="502920" cy="292608"/>
          </a:xfrm>
          <a:prstGeom prst="downArrow">
            <a:avLst/>
          </a:prstGeom>
          <a:solidFill>
            <a:srgbClr val="45A5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463040" y="4535424"/>
            <a:ext cx="923544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463040" y="4535424"/>
            <a:ext cx="146304" cy="1051560"/>
          </a:xfrm>
          <a:prstGeom prst="rect">
            <a:avLst/>
          </a:prstGeom>
          <a:solidFill>
            <a:srgbClr val="221F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783080" y="4828032"/>
            <a:ext cx="2651760" cy="457200"/>
          </a:xfrm>
          <a:prstGeom prst="roundRect">
            <a:avLst/>
          </a:prstGeom>
          <a:solidFill>
            <a:srgbClr val="221F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DATAVERSE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63440" y="4700016"/>
            <a:ext cx="5852160" cy="8229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221F20"/>
                </a:solidFill>
                <a:latin typeface="Lato"/>
              </a:rPr>
              <a:t>contact · bcrm_treatment_cycle · bcrm_egg · bcrm_eggdetail · +15 new tables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40" y="6126480"/>
            <a:ext cx="914400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C7C7A"/>
                </a:solidFill>
                <a:latin typeface="Lato"/>
              </a:rPr>
              <a:t>Auth already exists: MSAL Azure AD B2C + the hmacauth token. Reuse it — build no new login.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45A5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0584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F7D76"/>
                </a:solidFill>
                <a:latin typeface="Montserrat"/>
              </a:rPr>
              <a:t>THE RHYTHM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02336"/>
            <a:ext cx="1051560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221F20"/>
                </a:solidFill>
                <a:latin typeface="Montserrat"/>
              </a:rPr>
              <a:t>The order you build EVERY feature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292840" y="292608"/>
            <a:ext cx="566928" cy="457200"/>
          </a:xfrm>
          <a:prstGeom prst="roundRect">
            <a:avLst/>
          </a:prstGeom>
          <a:solidFill>
            <a:srgbClr val="EA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>
                <a:solidFill>
                  <a:srgbClr val="2F7D76"/>
                </a:solidFill>
                <a:latin typeface="Montserrat"/>
              </a:rPr>
              <a:t>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194560"/>
            <a:ext cx="1691640" cy="1554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21F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97280" y="2377440"/>
            <a:ext cx="502920" cy="502920"/>
          </a:xfrm>
          <a:prstGeom prst="roundRect">
            <a:avLst/>
          </a:prstGeom>
          <a:solidFill>
            <a:srgbClr val="221F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Montserrat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971800"/>
            <a:ext cx="150876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21F20"/>
                </a:solidFill>
                <a:latin typeface="Montserrat"/>
              </a:rPr>
              <a:t>Dataverse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21F20"/>
                </a:solidFill>
                <a:latin typeface="Montserrat"/>
              </a:rPr>
              <a:t>table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203704" y="2852928"/>
            <a:ext cx="146304" cy="237744"/>
          </a:xfrm>
          <a:prstGeom prst="rightArrow">
            <a:avLst/>
          </a:prstGeom>
          <a:solidFill>
            <a:srgbClr val="6C7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359152" y="2194560"/>
            <a:ext cx="1691640" cy="1554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F7D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953512" y="2377440"/>
            <a:ext cx="502920" cy="502920"/>
          </a:xfrm>
          <a:prstGeom prst="roundRect">
            <a:avLst/>
          </a:prstGeom>
          <a:solidFill>
            <a:srgbClr val="2F7D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Montserrat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50592" y="2971800"/>
            <a:ext cx="150876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21F20"/>
                </a:solidFill>
                <a:latin typeface="Montserrat"/>
              </a:rPr>
              <a:t>API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21F20"/>
                </a:solidFill>
                <a:latin typeface="Montserrat"/>
              </a:rPr>
              <a:t>endpoint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4059936" y="2852928"/>
            <a:ext cx="146304" cy="237744"/>
          </a:xfrm>
          <a:prstGeom prst="rightArrow">
            <a:avLst/>
          </a:prstGeom>
          <a:solidFill>
            <a:srgbClr val="6C7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215384" y="2194560"/>
            <a:ext cx="1691640" cy="1554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45A5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809744" y="2377440"/>
            <a:ext cx="502920" cy="502920"/>
          </a:xfrm>
          <a:prstGeom prst="roundRect">
            <a:avLst/>
          </a:prstGeom>
          <a:solidFill>
            <a:srgbClr val="45A5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Montserrat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06824" y="2971800"/>
            <a:ext cx="150876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21F20"/>
                </a:solidFill>
                <a:latin typeface="Montserrat"/>
              </a:rPr>
              <a:t>React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21F20"/>
                </a:solidFill>
                <a:latin typeface="Montserrat"/>
              </a:rPr>
              <a:t>service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5916168" y="2852928"/>
            <a:ext cx="146304" cy="237744"/>
          </a:xfrm>
          <a:prstGeom prst="rightArrow">
            <a:avLst/>
          </a:prstGeom>
          <a:solidFill>
            <a:srgbClr val="6C7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071616" y="2194560"/>
            <a:ext cx="1691640" cy="1554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45A5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665976" y="2377440"/>
            <a:ext cx="502920" cy="502920"/>
          </a:xfrm>
          <a:prstGeom prst="roundRect">
            <a:avLst/>
          </a:prstGeom>
          <a:solidFill>
            <a:srgbClr val="45A5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Montserrat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63056" y="2971800"/>
            <a:ext cx="150876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21F20"/>
                </a:solidFill>
                <a:latin typeface="Montserrat"/>
              </a:rPr>
              <a:t>React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21F20"/>
                </a:solidFill>
                <a:latin typeface="Montserrat"/>
              </a:rPr>
              <a:t>screen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7772400" y="2852928"/>
            <a:ext cx="146304" cy="237744"/>
          </a:xfrm>
          <a:prstGeom prst="rightArrow">
            <a:avLst/>
          </a:prstGeom>
          <a:solidFill>
            <a:srgbClr val="6C7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927848" y="2194560"/>
            <a:ext cx="1691640" cy="1554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F4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522208" y="2377440"/>
            <a:ext cx="502920" cy="502920"/>
          </a:xfrm>
          <a:prstGeom prst="roundRect">
            <a:avLst/>
          </a:prstGeom>
          <a:solidFill>
            <a:srgbClr val="CF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Montserrat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19288" y="2971800"/>
            <a:ext cx="150876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21F20"/>
                </a:solidFill>
                <a:latin typeface="Montserrat"/>
              </a:rPr>
              <a:t>Safety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21F20"/>
                </a:solidFill>
                <a:latin typeface="Montserrat"/>
              </a:rPr>
              <a:t>gate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9628632" y="2852928"/>
            <a:ext cx="146304" cy="237744"/>
          </a:xfrm>
          <a:prstGeom prst="rightArrow">
            <a:avLst/>
          </a:prstGeom>
          <a:solidFill>
            <a:srgbClr val="6C7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784080" y="2194560"/>
            <a:ext cx="1691640" cy="1554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F9E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0378440" y="2377440"/>
            <a:ext cx="502920" cy="502920"/>
          </a:xfrm>
          <a:prstGeom prst="roundRect">
            <a:avLst/>
          </a:prstGeom>
          <a:solidFill>
            <a:srgbClr val="2F9E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Montserrat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75520" y="2971800"/>
            <a:ext cx="150876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21F20"/>
                </a:solidFill>
                <a:latin typeface="Montserrat"/>
              </a:rPr>
              <a:t>Verify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21F20"/>
                </a:solidFill>
                <a:latin typeface="Montserrat"/>
              </a:rPr>
              <a:t>end-to-end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4297680"/>
            <a:ext cx="110642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CF4A4A"/>
                </a:solidFill>
                <a:latin typeface="Lato"/>
              </a:rPr>
              <a:t>Rule: </a:t>
            </a:r>
            <a:r>
              <a:rPr sz="1600" b="0">
                <a:solidFill>
                  <a:srgbClr val="221F20"/>
                </a:solidFill>
                <a:latin typeface="Lato"/>
              </a:rPr>
              <a:t>never start a screen before its table and endpoint exist. No mock data in real screens.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5029200"/>
            <a:ext cx="11064240" cy="10972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6C7C7A"/>
                </a:solidFill>
                <a:latin typeface="Lato"/>
              </a:rPr>
              <a:t>Do the whole rhythm for one small slice, demo it, then move to the next. That's how the 5 phases (next slide) stay shippable.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45A5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0584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F7D76"/>
                </a:solidFill>
                <a:latin typeface="Montserrat"/>
              </a:rPr>
              <a:t>THE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02336"/>
            <a:ext cx="1051560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221F20"/>
                </a:solidFill>
                <a:latin typeface="Montserrat"/>
              </a:rPr>
              <a:t>5 phases — each one is demoable on its own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292840" y="292608"/>
            <a:ext cx="566928" cy="457200"/>
          </a:xfrm>
          <a:prstGeom prst="roundRect">
            <a:avLst/>
          </a:prstGeom>
          <a:solidFill>
            <a:srgbClr val="EA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>
                <a:solidFill>
                  <a:srgbClr val="2F7D76"/>
                </a:solidFill>
                <a:latin typeface="Montserrat"/>
              </a:rPr>
              <a:t>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17320"/>
            <a:ext cx="1106424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13232" y="1563624"/>
            <a:ext cx="457200" cy="457200"/>
          </a:xfrm>
          <a:prstGeom prst="roundRect">
            <a:avLst/>
          </a:prstGeom>
          <a:solidFill>
            <a:srgbClr val="221F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Montserrat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508760"/>
            <a:ext cx="2286000" cy="5669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21F20"/>
                </a:solidFill>
                <a:latin typeface="Montserrat"/>
              </a:rPr>
              <a:t>Foundations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1508760"/>
            <a:ext cx="7772400" cy="5669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6C7C7A"/>
                </a:solidFill>
                <a:latin typeface="Lato"/>
              </a:rPr>
              <a:t>Confirm schema · create tables &amp; option sets · build the /lab shell + witness chip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240280"/>
            <a:ext cx="1106424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13232" y="2386584"/>
            <a:ext cx="457200" cy="457200"/>
          </a:xfrm>
          <a:prstGeom prst="roundRect">
            <a:avLst/>
          </a:prstGeom>
          <a:solidFill>
            <a:srgbClr val="45A5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Montserrat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331720"/>
            <a:ext cx="2286000" cy="5669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21F20"/>
                </a:solidFill>
                <a:latin typeface="Montserrat"/>
              </a:rPr>
              <a:t>Planning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331720"/>
            <a:ext cx="7772400" cy="5669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6C7C7A"/>
                </a:solidFill>
                <a:latin typeface="Lato"/>
              </a:rPr>
              <a:t>Worklist · cycle overview · consent + 3-point-check GATE working end-to-end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063240"/>
            <a:ext cx="1106424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13232" y="3209544"/>
            <a:ext cx="457200" cy="457200"/>
          </a:xfrm>
          <a:prstGeom prst="roundRect">
            <a:avLst/>
          </a:prstGeom>
          <a:solidFill>
            <a:srgbClr val="2F7D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Montserrat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3154680"/>
            <a:ext cx="2286000" cy="5669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21F20"/>
                </a:solidFill>
                <a:latin typeface="Montserrat"/>
              </a:rPr>
              <a:t>Procedures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3154680"/>
            <a:ext cx="7772400" cy="5669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6C7C7A"/>
                </a:solidFill>
                <a:latin typeface="Lato"/>
              </a:rPr>
              <a:t>Egg collection (MII/MI/GV) · semen prep · insemination · fertilisation (PN board)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886200"/>
            <a:ext cx="1106424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13232" y="4032504"/>
            <a:ext cx="457200" cy="457200"/>
          </a:xfrm>
          <a:prstGeom prst="roundRect">
            <a:avLst/>
          </a:prstGeom>
          <a:solidFill>
            <a:srgbClr val="2F9E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Montserrat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3977640"/>
            <a:ext cx="2286000" cy="5669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21F20"/>
                </a:solidFill>
                <a:latin typeface="Montserrat"/>
              </a:rPr>
              <a:t>Lab Culture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3977640"/>
            <a:ext cx="7772400" cy="5669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6C7C7A"/>
                </a:solidFill>
                <a:latin typeface="Lato"/>
              </a:rPr>
              <a:t>The Day 0-7 development grid (Gardner grades) · transfer · live KPIs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709160"/>
            <a:ext cx="1106424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13232" y="4855464"/>
            <a:ext cx="457200" cy="457200"/>
          </a:xfrm>
          <a:prstGeom prst="roundRect">
            <a:avLst/>
          </a:prstGeom>
          <a:solidFill>
            <a:srgbClr val="7A5C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Montserrat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71600" y="4800600"/>
            <a:ext cx="2286000" cy="5669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21F20"/>
                </a:solidFill>
                <a:latin typeface="Montserrat"/>
              </a:rPr>
              <a:t>Cryo &amp; Governance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0" y="4800600"/>
            <a:ext cx="7772400" cy="5669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6C7C7A"/>
                </a:solidFill>
                <a:latin typeface="Lato"/>
              </a:rPr>
              <a:t>Tanks &amp; inventory · freeze/thaw/biopsy · witnessing log · research banner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5532120"/>
            <a:ext cx="1106424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713232" y="5678424"/>
            <a:ext cx="457200" cy="457200"/>
          </a:xfrm>
          <a:prstGeom prst="roundRect">
            <a:avLst/>
          </a:prstGeom>
          <a:solidFill>
            <a:srgbClr val="C98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Montserrat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71600" y="5623560"/>
            <a:ext cx="2286000" cy="5669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21F20"/>
                </a:solidFill>
                <a:latin typeface="Montserrat"/>
              </a:rPr>
              <a:t>Reports &amp; Manager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7600" y="5623560"/>
            <a:ext cx="7772400" cy="5669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6C7C7A"/>
                </a:solidFill>
                <a:latin typeface="Lato"/>
              </a:rPr>
              <a:t>Outcome reports &amp; letters · lab worksheet · manager correct/delete (audited)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45A5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0584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F7D76"/>
                </a:solidFill>
                <a:latin typeface="Montserrat"/>
              </a:rPr>
              <a:t>BACKEND RECIPE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02336"/>
            <a:ext cx="1051560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221F20"/>
                </a:solidFill>
                <a:latin typeface="Montserrat"/>
              </a:rPr>
              <a:t>Adding one feature = 4 files (copy an existing one)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292840" y="292608"/>
            <a:ext cx="566928" cy="457200"/>
          </a:xfrm>
          <a:prstGeom prst="roundRect">
            <a:avLst/>
          </a:prstGeom>
          <a:solidFill>
            <a:srgbClr val="EA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>
                <a:solidFill>
                  <a:srgbClr val="2F7D76"/>
                </a:solidFill>
                <a:latin typeface="Montserrat"/>
              </a:rPr>
              <a:t>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17320"/>
            <a:ext cx="11064240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536192"/>
            <a:ext cx="2194560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F7D76"/>
                </a:solidFill>
                <a:latin typeface="Montserrat"/>
              </a:rPr>
              <a:t>1. DTO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360" y="1517904"/>
            <a:ext cx="8503920" cy="6858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221F20"/>
                </a:solidFill>
                <a:latin typeface="Consolas"/>
              </a:rPr>
              <a:t>TaskService.DataTransferObjects/&lt;Area&gt;/XxxDTO.cs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6C7C7A"/>
                </a:solidFill>
                <a:latin typeface="Lato"/>
              </a:rPr>
              <a:t>plain properties (copy StoredSampleDTO)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31720"/>
            <a:ext cx="11064240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450592"/>
            <a:ext cx="2194560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F7D76"/>
                </a:solidFill>
                <a:latin typeface="Montserrat"/>
              </a:rPr>
              <a:t>2. Service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80360" y="2432304"/>
            <a:ext cx="8503920" cy="6858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221F20"/>
                </a:solidFill>
                <a:latin typeface="Consolas"/>
              </a:rPr>
              <a:t>TaskService.Services/&lt;Area&gt;/IXxxService.cs + XxxService.cs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6C7C7A"/>
                </a:solidFill>
                <a:latin typeface="Lato"/>
              </a:rPr>
              <a:t>reads = FetchXML · writes = Entity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246120"/>
            <a:ext cx="11064240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364992"/>
            <a:ext cx="2194560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F7D76"/>
                </a:solidFill>
                <a:latin typeface="Montserrat"/>
              </a:rPr>
              <a:t>3. Controller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80360" y="3346704"/>
            <a:ext cx="8503920" cy="6858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221F20"/>
                </a:solidFill>
                <a:latin typeface="Consolas"/>
              </a:rPr>
              <a:t>TaskService/Controllers/XxxController.cs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6C7C7A"/>
                </a:solidFill>
                <a:latin typeface="Lato"/>
              </a:rPr>
              <a:t>[Authorize] + [RoutePrefix] · copy an existing one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160520"/>
            <a:ext cx="11064240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279392"/>
            <a:ext cx="2194560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F7D76"/>
                </a:solidFill>
                <a:latin typeface="Montserrat"/>
              </a:rPr>
              <a:t>4. (Repository)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80360" y="4261104"/>
            <a:ext cx="8503920" cy="6858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221F20"/>
                </a:solidFill>
                <a:latin typeface="Consolas"/>
              </a:rPr>
              <a:t>no change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6C7C7A"/>
                </a:solidFill>
                <a:latin typeface="Lato"/>
              </a:rPr>
              <a:t>reuse CRMCoreRepository.Create/Update/Delete/Get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257800"/>
            <a:ext cx="11064240" cy="10972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221F20"/>
                </a:solidFill>
                <a:latin typeface="Lato"/>
              </a:rPr>
              <a:t>No dependency-injection wiring to touch. </a:t>
            </a:r>
            <a:r>
              <a:rPr sz="1400" b="0">
                <a:solidFill>
                  <a:srgbClr val="6C7C7A"/>
                </a:solidFill>
                <a:latin typeface="Lato"/>
              </a:rPr>
              <a:t>Attribute routing means a new controller just works. Test it in Swagger first.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897880"/>
            <a:ext cx="1106424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2F7D76"/>
                </a:solidFill>
                <a:latin typeface="Consolas"/>
              </a:rPr>
              <a:t>Idioms: OptionSetValue(int) · new EntityReference("logical", guid) · SpecifyKind(date, Utc) · run the ACSHelper guard.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45A5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0584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F7D76"/>
                </a:solidFill>
                <a:latin typeface="Montserrat"/>
              </a:rPr>
              <a:t>FRONTEND RECIPE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02336"/>
            <a:ext cx="1051560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221F20"/>
                </a:solidFill>
                <a:latin typeface="Montserrat"/>
              </a:rPr>
              <a:t>Adding one screen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292840" y="292608"/>
            <a:ext cx="566928" cy="457200"/>
          </a:xfrm>
          <a:prstGeom prst="roundRect">
            <a:avLst/>
          </a:prstGeom>
          <a:solidFill>
            <a:srgbClr val="EA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>
                <a:solidFill>
                  <a:srgbClr val="2F7D76"/>
                </a:solidFill>
                <a:latin typeface="Montserrat"/>
              </a:rPr>
              <a:t>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572768"/>
            <a:ext cx="310896" cy="310896"/>
          </a:xfrm>
          <a:prstGeom prst="roundRect">
            <a:avLst/>
          </a:prstGeom>
          <a:solidFill>
            <a:srgbClr val="45A5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1536192"/>
            <a:ext cx="105156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221F20"/>
                </a:solidFill>
                <a:latin typeface="Lato"/>
              </a:rPr>
              <a:t>Put a route</a:t>
            </a:r>
            <a:r>
              <a:rPr sz="1550" b="0">
                <a:solidFill>
                  <a:srgbClr val="6C7C7A"/>
                </a:solidFill>
                <a:latin typeface="Lato"/>
              </a:rPr>
              <a:t> in src/Layout Component/Layout1.js under a new /lab tree (staff-only).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322576"/>
            <a:ext cx="310896" cy="310896"/>
          </a:xfrm>
          <a:prstGeom prst="roundRect">
            <a:avLst/>
          </a:prstGeom>
          <a:solidFill>
            <a:srgbClr val="45A5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286000"/>
            <a:ext cx="105156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221F20"/>
                </a:solidFill>
                <a:latin typeface="Lato"/>
              </a:rPr>
              <a:t>Add API calls</a:t>
            </a:r>
            <a:r>
              <a:rPr sz="1550" b="0">
                <a:solidFill>
                  <a:srgbClr val="6C7C7A"/>
                </a:solidFill>
                <a:latin typeface="Lato"/>
              </a:rPr>
              <a:t> to one file: src/services/embryoApi.js (axios, same style as ProfileService.js).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072384"/>
            <a:ext cx="310896" cy="310896"/>
          </a:xfrm>
          <a:prstGeom prst="roundRect">
            <a:avLst/>
          </a:prstGeom>
          <a:solidFill>
            <a:srgbClr val="45A5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3035808"/>
            <a:ext cx="105156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221F20"/>
                </a:solidFill>
                <a:latin typeface="Lato"/>
              </a:rPr>
              <a:t>Build the page</a:t>
            </a:r>
            <a:r>
              <a:rPr sz="1550" b="0">
                <a:solidFill>
                  <a:srgbClr val="6C7C7A"/>
                </a:solidFill>
                <a:latin typeface="Lato"/>
              </a:rPr>
              <a:t> in src/lab/pages/… — load in useEffect, write via embryoApi, toast the result.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822192"/>
            <a:ext cx="310896" cy="310896"/>
          </a:xfrm>
          <a:prstGeom prst="roundRect">
            <a:avLst/>
          </a:prstGeom>
          <a:solidFill>
            <a:srgbClr val="45A5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3785616"/>
            <a:ext cx="105156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221F20"/>
                </a:solidFill>
                <a:latin typeface="Lato"/>
              </a:rPr>
              <a:t>Reuse components</a:t>
            </a:r>
            <a:r>
              <a:rPr sz="1550" b="0">
                <a:solidFill>
                  <a:srgbClr val="6C7C7A"/>
                </a:solidFill>
                <a:latin typeface="Lato"/>
              </a:rPr>
              <a:t> WitnessChip · StatusBadge · StatTile · PnBoard · DevelopmentGrid.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572000"/>
            <a:ext cx="310896" cy="310896"/>
          </a:xfrm>
          <a:prstGeom prst="roundRect">
            <a:avLst/>
          </a:prstGeom>
          <a:solidFill>
            <a:srgbClr val="45A5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4535424"/>
            <a:ext cx="105156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221F20"/>
                </a:solidFill>
                <a:latin typeface="Lato"/>
              </a:rPr>
              <a:t>Show the gate</a:t>
            </a:r>
            <a:r>
              <a:rPr sz="1550" b="0">
                <a:solidFill>
                  <a:srgbClr val="6C7C7A"/>
                </a:solidFill>
                <a:latin typeface="Lato"/>
              </a:rPr>
              <a:t> disable the button until the 3-point check passes &amp; witness ≠ performer.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669280"/>
            <a:ext cx="10881360" cy="640080"/>
          </a:xfrm>
          <a:prstGeom prst="roundRect">
            <a:avLst/>
          </a:prstGeom>
          <a:solidFill>
            <a:srgbClr val="EA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50" b="1">
                <a:solidFill>
                  <a:srgbClr val="2F7D76"/>
                </a:solidFill>
                <a:latin typeface="Montserrat"/>
              </a:rPr>
              <a:t>Keep ALL lab code in src/lab/ + embryoApi.js. Don't restyle the patient portal.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45A5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0584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F7D76"/>
                </a:solidFill>
                <a:latin typeface="Montserrat"/>
              </a:rPr>
              <a:t>IT'S NOT READ-ONLY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02336"/>
            <a:ext cx="1051560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221F20"/>
                </a:solidFill>
                <a:latin typeface="Montserrat"/>
              </a:rPr>
              <a:t>Everything can be added, edited, updated &amp; deleted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292840" y="292608"/>
            <a:ext cx="566928" cy="457200"/>
          </a:xfrm>
          <a:prstGeom prst="roundRect">
            <a:avLst/>
          </a:prstGeom>
          <a:solidFill>
            <a:srgbClr val="EA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>
                <a:solidFill>
                  <a:srgbClr val="2F7D76"/>
                </a:solidFill>
                <a:latin typeface="Montserrat"/>
              </a:rPr>
              <a:t>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80160"/>
            <a:ext cx="11064240" cy="6858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221F20"/>
                </a:solidFill>
                <a:latin typeface="Lato"/>
              </a:rPr>
              <a:t>Every record </a:t>
            </a:r>
            <a:r>
              <a:rPr sz="1600" b="0">
                <a:solidFill>
                  <a:srgbClr val="221F20"/>
                </a:solidFill>
                <a:latin typeface="Lato"/>
              </a:rPr>
              <a:t>— and every list that drives the forms (templates, tanks, sites, research projects) — is </a:t>
            </a:r>
            <a:r>
              <a:rPr sz="1600" b="1">
                <a:solidFill>
                  <a:srgbClr val="2F7D76"/>
                </a:solidFill>
                <a:latin typeface="Lato"/>
              </a:rPr>
              <a:t>fully read-write from the UI.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148840"/>
            <a:ext cx="2697480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148840"/>
            <a:ext cx="2697480" cy="109728"/>
          </a:xfrm>
          <a:prstGeom prst="rect">
            <a:avLst/>
          </a:prstGeom>
          <a:solidFill>
            <a:srgbClr val="45A5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22960" y="2468880"/>
            <a:ext cx="1828800" cy="457200"/>
          </a:xfrm>
          <a:prstGeom prst="roundRect">
            <a:avLst/>
          </a:prstGeom>
          <a:solidFill>
            <a:srgbClr val="45A5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ADD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108960"/>
            <a:ext cx="21488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221F20"/>
                </a:solidFill>
                <a:latin typeface="Lato"/>
              </a:rPr>
              <a:t>Create new rows. Every subgrid has an + Add button.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83280" y="2148840"/>
            <a:ext cx="2697480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83280" y="2148840"/>
            <a:ext cx="2697480" cy="109728"/>
          </a:xfrm>
          <a:prstGeom prst="rect">
            <a:avLst/>
          </a:prstGeom>
          <a:solidFill>
            <a:srgbClr val="2F7D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657600" y="2468880"/>
            <a:ext cx="1828800" cy="457200"/>
          </a:xfrm>
          <a:prstGeom prst="roundRect">
            <a:avLst/>
          </a:prstGeom>
          <a:solidFill>
            <a:srgbClr val="2F7D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EDIT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3108960"/>
            <a:ext cx="21488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221F20"/>
                </a:solidFill>
                <a:latin typeface="Lato"/>
              </a:rPr>
              <a:t>Partial update — send only what changed (incl. inline grid cells).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2148840"/>
            <a:ext cx="2697480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17920" y="2148840"/>
            <a:ext cx="2697480" cy="109728"/>
          </a:xfrm>
          <a:prstGeom prst="rect">
            <a:avLst/>
          </a:prstGeom>
          <a:solidFill>
            <a:srgbClr val="CF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92240" y="2468880"/>
            <a:ext cx="1828800" cy="457200"/>
          </a:xfrm>
          <a:prstGeom prst="roundRect">
            <a:avLst/>
          </a:prstGeom>
          <a:solidFill>
            <a:srgbClr val="CF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DELETE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108960"/>
            <a:ext cx="21488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221F20"/>
                </a:solidFill>
                <a:latin typeface="Lato"/>
              </a:rPr>
              <a:t>Soft-retire with a reason by default; hard delete = manager only.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52560" y="2148840"/>
            <a:ext cx="2697480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52560" y="2148840"/>
            <a:ext cx="2697480" cy="109728"/>
          </a:xfrm>
          <a:prstGeom prst="rect">
            <a:avLst/>
          </a:prstGeom>
          <a:solidFill>
            <a:srgbClr val="7A5C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326880" y="2468880"/>
            <a:ext cx="1828800" cy="457200"/>
          </a:xfrm>
          <a:prstGeom prst="roundRect">
            <a:avLst/>
          </a:prstGeom>
          <a:solidFill>
            <a:srgbClr val="7A5C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MANAGE LISTS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0" y="3108960"/>
            <a:ext cx="21488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221F20"/>
                </a:solidFill>
                <a:latin typeface="Lato"/>
              </a:rPr>
              <a:t>Templates, cryo tanks, research projects — CRUD, no developer needed.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526280"/>
            <a:ext cx="11064240" cy="1371600"/>
          </a:xfrm>
          <a:prstGeom prst="roundRect">
            <a:avLst/>
          </a:prstGeom>
          <a:solidFill>
            <a:srgbClr val="EA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4645152"/>
            <a:ext cx="10607040" cy="411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2F7D76"/>
                </a:solidFill>
                <a:latin typeface="Montserrat"/>
              </a:rPr>
              <a:t>Guardrails when editing clinical data: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5074920"/>
            <a:ext cx="260604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1">
                <a:solidFill>
                  <a:srgbClr val="221F20"/>
                </a:solidFill>
                <a:latin typeface="Lato"/>
              </a:rPr>
              <a:t>Concurrency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6C7C7A"/>
                </a:solidFill>
                <a:latin typeface="Lato"/>
              </a:rPr>
              <a:t>two people, one cycle → 409 on a clash, reload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74720" y="5074920"/>
            <a:ext cx="260604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1">
                <a:solidFill>
                  <a:srgbClr val="221F20"/>
                </a:solidFill>
                <a:latin typeface="Lato"/>
              </a:rPr>
              <a:t>Audit trail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6C7C7A"/>
                </a:solidFill>
                <a:latin typeface="Lato"/>
              </a:rPr>
              <a:t>Dataverse logs every field edit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72200" y="5074920"/>
            <a:ext cx="260604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1">
                <a:solidFill>
                  <a:srgbClr val="221F20"/>
                </a:solidFill>
                <a:latin typeface="Lato"/>
              </a:rPr>
              <a:t>Role-gated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6C7C7A"/>
                </a:solidFill>
                <a:latin typeface="Lato"/>
              </a:rPr>
              <a:t>view / edit / delete by role (403 on server)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69680" y="5074920"/>
            <a:ext cx="260604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1">
                <a:solidFill>
                  <a:srgbClr val="221F20"/>
                </a:solidFill>
                <a:latin typeface="Lato"/>
              </a:rPr>
              <a:t>Correct &amp; re-enter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6C7C7A"/>
                </a:solidFill>
                <a:latin typeface="Lato"/>
              </a:rPr>
              <a:t>managers fix locked data with a reason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45A5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0584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F7D76"/>
                </a:solidFill>
                <a:latin typeface="Montserrat"/>
              </a:rPr>
              <a:t>NON-NEGOTIABLE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02336"/>
            <a:ext cx="1051560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221F20"/>
                </a:solidFill>
                <a:latin typeface="Montserrat"/>
              </a:rPr>
              <a:t>The safety gates (enforce on the SERVER too)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292840" y="292608"/>
            <a:ext cx="566928" cy="457200"/>
          </a:xfrm>
          <a:prstGeom prst="roundRect">
            <a:avLst/>
          </a:prstGeom>
          <a:solidFill>
            <a:srgbClr val="EA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>
                <a:solidFill>
                  <a:srgbClr val="2F7D76"/>
                </a:solidFill>
                <a:latin typeface="Montserrat"/>
              </a:rP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63040"/>
            <a:ext cx="356616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463040"/>
            <a:ext cx="3566160" cy="91440"/>
          </a:xfrm>
          <a:prstGeom prst="rect">
            <a:avLst/>
          </a:prstGeom>
          <a:solidFill>
            <a:srgbClr val="CF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719072"/>
            <a:ext cx="31089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221F20"/>
                </a:solidFill>
                <a:latin typeface="Montserrat"/>
              </a:rPr>
              <a:t>Independent witness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12848"/>
            <a:ext cx="310896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C7C7A"/>
                </a:solidFill>
                <a:latin typeface="Lato"/>
              </a:rPr>
              <a:t>reject if witness = performer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1463040"/>
            <a:ext cx="356616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97680" y="1463040"/>
            <a:ext cx="3566160" cy="91440"/>
          </a:xfrm>
          <a:prstGeom prst="rect">
            <a:avLst/>
          </a:prstGeom>
          <a:solidFill>
            <a:srgbClr val="CF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1719072"/>
            <a:ext cx="31089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221F20"/>
                </a:solidFill>
                <a:latin typeface="Montserrat"/>
              </a:rPr>
              <a:t>3-point check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80" y="2212848"/>
            <a:ext cx="310896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C7C7A"/>
                </a:solidFill>
                <a:latin typeface="Lato"/>
              </a:rPr>
              <a:t>no procedure starts until it PASSES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1463040"/>
            <a:ext cx="356616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1463040"/>
            <a:ext cx="3566160" cy="91440"/>
          </a:xfrm>
          <a:prstGeom prst="rect">
            <a:avLst/>
          </a:prstGeom>
          <a:solidFill>
            <a:srgbClr val="C98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75320" y="1719072"/>
            <a:ext cx="31089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221F20"/>
                </a:solidFill>
                <a:latin typeface="Montserrat"/>
              </a:rPr>
              <a:t>Consent gate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5320" y="2212848"/>
            <a:ext cx="310896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C7C7A"/>
                </a:solidFill>
                <a:latin typeface="Lato"/>
              </a:rPr>
              <a:t>cycle must be 'ready for procedure'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063240"/>
            <a:ext cx="356616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3063240"/>
            <a:ext cx="3566160" cy="91440"/>
          </a:xfrm>
          <a:prstGeom prst="rect">
            <a:avLst/>
          </a:prstGeom>
          <a:solidFill>
            <a:srgbClr val="2F7D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3319272"/>
            <a:ext cx="31089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221F20"/>
                </a:solidFill>
                <a:latin typeface="Montserrat"/>
              </a:rPr>
              <a:t>ICSI = MII only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3813048"/>
            <a:ext cx="310896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C7C7A"/>
                </a:solidFill>
                <a:latin typeface="Lato"/>
              </a:rPr>
              <a:t>only mature (MII) eggs go to ICSI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80" y="3063240"/>
            <a:ext cx="356616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297680" y="3063240"/>
            <a:ext cx="3566160" cy="91440"/>
          </a:xfrm>
          <a:prstGeom prst="rect">
            <a:avLst/>
          </a:prstGeom>
          <a:solidFill>
            <a:srgbClr val="C98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26280" y="3319272"/>
            <a:ext cx="31089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221F20"/>
                </a:solidFill>
                <a:latin typeface="Montserrat"/>
              </a:rPr>
              <a:t>2PN = normal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26280" y="3813048"/>
            <a:ext cx="310896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C7C7A"/>
                </a:solidFill>
                <a:latin typeface="Lato"/>
              </a:rPr>
              <a:t>flag 0PN / 1PN / 3PN as abnormal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3063240"/>
            <a:ext cx="356616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046720" y="3063240"/>
            <a:ext cx="3566160" cy="91440"/>
          </a:xfrm>
          <a:prstGeom prst="rect">
            <a:avLst/>
          </a:prstGeom>
          <a:solidFill>
            <a:srgbClr val="2F9E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75320" y="3319272"/>
            <a:ext cx="31089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221F20"/>
                </a:solidFill>
                <a:latin typeface="Montserrat"/>
              </a:rPr>
              <a:t>Carry-over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75320" y="3813048"/>
            <a:ext cx="310896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C7C7A"/>
                </a:solidFill>
                <a:latin typeface="Lato"/>
              </a:rPr>
              <a:t>un-fated embryos roll to next day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5440680"/>
            <a:ext cx="110642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CF4A4A"/>
                </a:solidFill>
                <a:latin typeface="Lato"/>
              </a:rPr>
              <a:t>Why server-side? </a:t>
            </a:r>
            <a:r>
              <a:rPr sz="1400" b="0">
                <a:solidFill>
                  <a:srgbClr val="221F20"/>
                </a:solidFill>
                <a:latin typeface="Lato"/>
              </a:rPr>
              <a:t>The UI can be bypassed. The API is the last line of defence for patient safety.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45A5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0584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F7D76"/>
                </a:solidFill>
                <a:latin typeface="Montserrat"/>
              </a:rPr>
              <a:t>CHEAT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02336"/>
            <a:ext cx="1051560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221F20"/>
                </a:solidFill>
                <a:latin typeface="Montserrat"/>
              </a:rPr>
              <a:t>The clinical words you must get right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292840" y="292608"/>
            <a:ext cx="566928" cy="457200"/>
          </a:xfrm>
          <a:prstGeom prst="roundRect">
            <a:avLst/>
          </a:prstGeom>
          <a:solidFill>
            <a:srgbClr val="EA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>
                <a:solidFill>
                  <a:srgbClr val="2F7D76"/>
                </a:solidFill>
                <a:latin typeface="Montserrat"/>
              </a:rPr>
              <a:t>11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17320"/>
            <a:ext cx="110642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490472"/>
            <a:ext cx="2926080" cy="457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2F7D76"/>
                </a:solidFill>
                <a:latin typeface="Montserrat"/>
              </a:rPr>
              <a:t>MII / MI / GV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49039" y="1490472"/>
            <a:ext cx="7680960" cy="457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221F20"/>
                </a:solidFill>
                <a:latin typeface="Lato"/>
              </a:rPr>
              <a:t>egg maturity. Only MII (mature) can be ICSI-inseminated.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002536"/>
            <a:ext cx="11064240" cy="566928"/>
          </a:xfrm>
          <a:prstGeom prst="rect">
            <a:avLst/>
          </a:prstGeom>
          <a:solidFill>
            <a:srgbClr val="EA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075688"/>
            <a:ext cx="2926080" cy="457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2F7D76"/>
                </a:solidFill>
                <a:latin typeface="Montserrat"/>
              </a:rPr>
              <a:t>PN (pronuclei)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2075688"/>
            <a:ext cx="7680960" cy="457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221F20"/>
                </a:solidFill>
                <a:latin typeface="Lato"/>
              </a:rPr>
              <a:t>checked ~16-18h after insemination. 2PN = normal fertilisation.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587752"/>
            <a:ext cx="110642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660904"/>
            <a:ext cx="2926080" cy="457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2F7D76"/>
                </a:solidFill>
                <a:latin typeface="Montserrat"/>
              </a:rPr>
              <a:t>PB (polar body)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49039" y="2660904"/>
            <a:ext cx="7680960" cy="457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221F20"/>
                </a:solidFill>
                <a:latin typeface="Lato"/>
              </a:rPr>
              <a:t>recorded alongside PN at the fertilisation check.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172968"/>
            <a:ext cx="11064240" cy="566928"/>
          </a:xfrm>
          <a:prstGeom prst="rect">
            <a:avLst/>
          </a:prstGeom>
          <a:solidFill>
            <a:srgbClr val="EA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246120"/>
            <a:ext cx="2926080" cy="457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2F7D76"/>
                </a:solidFill>
                <a:latin typeface="Montserrat"/>
              </a:rPr>
              <a:t>Gardner grade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39" y="3246120"/>
            <a:ext cx="7680960" cy="457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221F20"/>
                </a:solidFill>
                <a:latin typeface="Lato"/>
              </a:rPr>
              <a:t>blastocyst = expansion 1-6 + ICM (A/B/C) + TE (A/B/C), e.g. 4AA.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3758184"/>
            <a:ext cx="110642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3831336"/>
            <a:ext cx="2926080" cy="457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2F7D76"/>
                </a:solidFill>
                <a:latin typeface="Montserrat"/>
              </a:rPr>
              <a:t>Fragmentation 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49039" y="3831336"/>
            <a:ext cx="7680960" cy="457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221F20"/>
                </a:solidFill>
                <a:latin typeface="Lato"/>
              </a:rPr>
              <a:t>cleavage-stage quality; high = worse.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4343400"/>
            <a:ext cx="11064240" cy="566928"/>
          </a:xfrm>
          <a:prstGeom prst="rect">
            <a:avLst/>
          </a:prstGeom>
          <a:solidFill>
            <a:srgbClr val="EA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4416552"/>
            <a:ext cx="2926080" cy="457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2F7D76"/>
                </a:solidFill>
                <a:latin typeface="Montserrat"/>
              </a:rPr>
              <a:t>Vienna KPIs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49039" y="4416552"/>
            <a:ext cx="7680960" cy="457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221F20"/>
                </a:solidFill>
                <a:latin typeface="Lato"/>
              </a:rPr>
              <a:t>benchmarks, e.g. Day-5 blastocyst rate 44-80% of 2PN zygotes.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4928616"/>
            <a:ext cx="110642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5001768"/>
            <a:ext cx="2926080" cy="457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2F7D76"/>
                </a:solidFill>
                <a:latin typeface="Montserrat"/>
              </a:rPr>
              <a:t>Istanbul 2025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49039" y="5001768"/>
            <a:ext cx="7680960" cy="457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221F20"/>
                </a:solidFill>
                <a:latin typeface="Lato"/>
              </a:rPr>
              <a:t>the current ESHRE/ALPHA grading standard the terminology follows.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5513832"/>
            <a:ext cx="11064240" cy="566928"/>
          </a:xfrm>
          <a:prstGeom prst="rect">
            <a:avLst/>
          </a:prstGeom>
          <a:solidFill>
            <a:srgbClr val="EA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5586984"/>
            <a:ext cx="2926080" cy="457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2F7D76"/>
                </a:solidFill>
                <a:latin typeface="Montserrat"/>
              </a:rPr>
              <a:t>Double witnessing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49039" y="5586984"/>
            <a:ext cx="7680960" cy="457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221F20"/>
                </a:solidFill>
                <a:latin typeface="Lato"/>
              </a:rPr>
              <a:t>independent 2nd person on every critical step (HFEA).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45A5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0584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F7D76"/>
                </a:solidFill>
                <a:latin typeface="Montserrat"/>
              </a:rPr>
              <a:t>MAKE IT LOOK RIGHT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02336"/>
            <a:ext cx="1051560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221F20"/>
                </a:solidFill>
                <a:latin typeface="Montserrat"/>
              </a:rPr>
              <a:t>Branding cheat sheet (match the prototype)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292840" y="292608"/>
            <a:ext cx="566928" cy="457200"/>
          </a:xfrm>
          <a:prstGeom prst="roundRect">
            <a:avLst/>
          </a:prstGeom>
          <a:solidFill>
            <a:srgbClr val="EA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>
                <a:solidFill>
                  <a:srgbClr val="2F7D76"/>
                </a:solidFill>
                <a:latin typeface="Montserrat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1097280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21F20"/>
                </a:solidFill>
                <a:latin typeface="Lato"/>
              </a:rPr>
              <a:t>Fonts:  </a:t>
            </a:r>
            <a:r>
              <a:rPr sz="1500" b="1">
                <a:solidFill>
                  <a:srgbClr val="2F7D76"/>
                </a:solidFill>
                <a:latin typeface="Montserrat"/>
              </a:rPr>
              <a:t>Montserrat</a:t>
            </a:r>
            <a:r>
              <a:rPr sz="1400" b="0">
                <a:solidFill>
                  <a:srgbClr val="6C7C7A"/>
                </a:solidFill>
                <a:latin typeface="Lato"/>
              </a:rPr>
              <a:t> headings · </a:t>
            </a:r>
            <a:r>
              <a:rPr sz="1500" b="1">
                <a:solidFill>
                  <a:srgbClr val="2F7D76"/>
                </a:solidFill>
                <a:latin typeface="Lato"/>
              </a:rPr>
              <a:t>Lato</a:t>
            </a:r>
            <a:r>
              <a:rPr sz="1400" b="0">
                <a:solidFill>
                  <a:srgbClr val="6C7C7A"/>
                </a:solidFill>
                <a:latin typeface="Lato"/>
              </a:rPr>
              <a:t> body · </a:t>
            </a:r>
            <a:r>
              <a:rPr sz="1500" b="1">
                <a:solidFill>
                  <a:srgbClr val="2F7D76"/>
                </a:solidFill>
                <a:latin typeface="Consolas"/>
              </a:rPr>
              <a:t>JetBrains Mono</a:t>
            </a:r>
            <a:r>
              <a:rPr sz="1400" b="0">
                <a:solidFill>
                  <a:srgbClr val="6C7C7A"/>
                </a:solidFill>
                <a:latin typeface="Lato"/>
              </a:rPr>
              <a:t> for IDs &amp; lab numbers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148840"/>
            <a:ext cx="1783080" cy="1371600"/>
          </a:xfrm>
          <a:prstGeom prst="roundRect">
            <a:avLst/>
          </a:prstGeom>
          <a:solidFill>
            <a:srgbClr val="45A5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560320"/>
            <a:ext cx="17830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Consolas"/>
              </a:rPr>
              <a:t>#45a59d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926080"/>
            <a:ext cx="17830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FFFFFF"/>
                </a:solidFill>
                <a:latin typeface="Lato"/>
              </a:rPr>
              <a:t>aqua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377440" y="2148840"/>
            <a:ext cx="1783080" cy="1371600"/>
          </a:xfrm>
          <a:prstGeom prst="roundRect">
            <a:avLst/>
          </a:prstGeom>
          <a:solidFill>
            <a:srgbClr val="2F7D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77440" y="2560320"/>
            <a:ext cx="17830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Consolas"/>
              </a:rPr>
              <a:t>#2f7d76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7440" y="2926080"/>
            <a:ext cx="17830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FFFFFF"/>
                </a:solidFill>
                <a:latin typeface="Lato"/>
              </a:rPr>
              <a:t>buttons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06240" y="2148840"/>
            <a:ext cx="1783080" cy="1371600"/>
          </a:xfrm>
          <a:prstGeom prst="roundRect">
            <a:avLst/>
          </a:prstGeom>
          <a:solidFill>
            <a:srgbClr val="2F9E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06240" y="2560320"/>
            <a:ext cx="17830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Consolas"/>
              </a:rPr>
              <a:t>#2f9e6f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06240" y="2926080"/>
            <a:ext cx="17830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FFFFFF"/>
                </a:solidFill>
                <a:latin typeface="Lato"/>
              </a:rPr>
              <a:t>normal / pass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35040" y="2148840"/>
            <a:ext cx="1783080" cy="1371600"/>
          </a:xfrm>
          <a:prstGeom prst="roundRect">
            <a:avLst/>
          </a:prstGeom>
          <a:solidFill>
            <a:srgbClr val="C98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035040" y="2560320"/>
            <a:ext cx="17830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Consolas"/>
              </a:rPr>
              <a:t>#c9821c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35040" y="2926080"/>
            <a:ext cx="17830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FFFFFF"/>
                </a:solidFill>
                <a:latin typeface="Lato"/>
              </a:rPr>
              <a:t>attention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863840" y="2148840"/>
            <a:ext cx="1783080" cy="1371600"/>
          </a:xfrm>
          <a:prstGeom prst="roundRect">
            <a:avLst/>
          </a:prstGeom>
          <a:solidFill>
            <a:srgbClr val="CF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63840" y="2560320"/>
            <a:ext cx="17830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Consolas"/>
              </a:rPr>
              <a:t>#cf4a4a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0" y="2926080"/>
            <a:ext cx="17830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FFFFFF"/>
                </a:solidFill>
                <a:latin typeface="Lato"/>
              </a:rPr>
              <a:t>abnormal / fail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692640" y="2148840"/>
            <a:ext cx="1783080" cy="1371600"/>
          </a:xfrm>
          <a:prstGeom prst="roundRect">
            <a:avLst/>
          </a:prstGeom>
          <a:solidFill>
            <a:srgbClr val="7A5C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92640" y="2560320"/>
            <a:ext cx="17830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Consolas"/>
              </a:rPr>
              <a:t>#7a5cc0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92640" y="2926080"/>
            <a:ext cx="17830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FFFFFF"/>
                </a:solidFill>
                <a:latin typeface="Lato"/>
              </a:rPr>
              <a:t>research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4041648"/>
            <a:ext cx="128016" cy="128016"/>
          </a:xfrm>
          <a:prstGeom prst="rect">
            <a:avLst/>
          </a:prstGeom>
          <a:solidFill>
            <a:srgbClr val="2F7D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50976" y="3913632"/>
            <a:ext cx="10661904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>
                <a:solidFill>
                  <a:srgbClr val="221F20"/>
                </a:solidFill>
                <a:latin typeface="Lato"/>
              </a:rPr>
              <a:t>Colour is never the only signal</a:t>
            </a:r>
            <a:r>
              <a:rPr sz="1450" b="0">
                <a:solidFill>
                  <a:srgbClr val="6C7C7A"/>
                </a:solidFill>
                <a:latin typeface="Lato"/>
              </a:rPr>
              <a:t> — always pair it with a label or icon (safety-critical, colour-blind-safe).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4700016"/>
            <a:ext cx="128016" cy="128016"/>
          </a:xfrm>
          <a:prstGeom prst="rect">
            <a:avLst/>
          </a:prstGeom>
          <a:solidFill>
            <a:srgbClr val="2F7D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50976" y="4572000"/>
            <a:ext cx="10661904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>
                <a:solidFill>
                  <a:srgbClr val="221F20"/>
                </a:solidFill>
                <a:latin typeface="Lato"/>
              </a:rPr>
              <a:t>Every specimen ID &amp; lab value</a:t>
            </a:r>
            <a:r>
              <a:rPr sz="1450" b="0">
                <a:solidFill>
                  <a:srgbClr val="6C7C7A"/>
                </a:solidFill>
                <a:latin typeface="Lato"/>
              </a:rPr>
              <a:t> renders in monospace so numbers line up.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5358384"/>
            <a:ext cx="128016" cy="128016"/>
          </a:xfrm>
          <a:prstGeom prst="rect">
            <a:avLst/>
          </a:prstGeom>
          <a:solidFill>
            <a:srgbClr val="2F7D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50976" y="5230368"/>
            <a:ext cx="10661904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>
                <a:solidFill>
                  <a:srgbClr val="221F20"/>
                </a:solidFill>
                <a:latin typeface="Lato"/>
              </a:rPr>
              <a:t>All demo data stays synthetic</a:t>
            </a:r>
            <a:r>
              <a:rPr sz="1450" b="0">
                <a:solidFill>
                  <a:srgbClr val="6C7C7A"/>
                </a:solidFill>
                <a:latin typeface="Lato"/>
              </a:rPr>
              <a:t> — SAMPLE / MODEL / DEMO / PROTO patients only.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45A5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0584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F7D76"/>
                </a:solidFill>
                <a:latin typeface="Montserrat"/>
              </a:rPr>
              <a:t>FINISH 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02336"/>
            <a:ext cx="1051560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221F20"/>
                </a:solidFill>
                <a:latin typeface="Montserrat"/>
              </a:rPr>
              <a:t>"Done" checklist  +  where everything lives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292840" y="292608"/>
            <a:ext cx="566928" cy="457200"/>
          </a:xfrm>
          <a:prstGeom prst="roundRect">
            <a:avLst/>
          </a:prstGeom>
          <a:solidFill>
            <a:srgbClr val="EA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>
                <a:solidFill>
                  <a:srgbClr val="2F7D76"/>
                </a:solidFill>
                <a:latin typeface="Montserrat"/>
              </a:rPr>
              <a:t>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371600"/>
            <a:ext cx="658368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508760"/>
            <a:ext cx="6126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F7D76"/>
                </a:solidFill>
                <a:latin typeface="Montserrat"/>
              </a:rPr>
              <a:t>Definition of Done (every slice)</a:t>
            </a:r>
          </a:p>
        </p:txBody>
      </p:sp>
      <p:sp>
        <p:nvSpPr>
          <p:cNvPr id="9" name="Oval 8"/>
          <p:cNvSpPr/>
          <p:nvPr/>
        </p:nvSpPr>
        <p:spPr>
          <a:xfrm>
            <a:off x="822960" y="2093976"/>
            <a:ext cx="256032" cy="256032"/>
          </a:xfrm>
          <a:prstGeom prst="ellipse">
            <a:avLst/>
          </a:prstGeom>
          <a:solidFill>
            <a:srgbClr val="2F9E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ontserrat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039112"/>
            <a:ext cx="576072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221F20"/>
                </a:solidFill>
                <a:latin typeface="Lato"/>
              </a:rPr>
              <a:t>Table exists in the OXAR_EmbryoModule solution (option sets + relationships)</a:t>
            </a:r>
          </a:p>
        </p:txBody>
      </p:sp>
      <p:sp>
        <p:nvSpPr>
          <p:cNvPr id="11" name="Oval 10"/>
          <p:cNvSpPr/>
          <p:nvPr/>
        </p:nvSpPr>
        <p:spPr>
          <a:xfrm>
            <a:off x="822960" y="2734056"/>
            <a:ext cx="256032" cy="256032"/>
          </a:xfrm>
          <a:prstGeom prst="ellipse">
            <a:avLst/>
          </a:prstGeom>
          <a:solidFill>
            <a:srgbClr val="2F9E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ontserrat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679192"/>
            <a:ext cx="576072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221F20"/>
                </a:solidFill>
                <a:latin typeface="Lato"/>
              </a:rPr>
              <a:t>Endpoint smoke-tested in Swagger; lookups &amp; option sets round-trip</a:t>
            </a:r>
          </a:p>
        </p:txBody>
      </p:sp>
      <p:sp>
        <p:nvSpPr>
          <p:cNvPr id="13" name="Oval 12"/>
          <p:cNvSpPr/>
          <p:nvPr/>
        </p:nvSpPr>
        <p:spPr>
          <a:xfrm>
            <a:off x="822960" y="3374136"/>
            <a:ext cx="256032" cy="256032"/>
          </a:xfrm>
          <a:prstGeom prst="ellipse">
            <a:avLst/>
          </a:prstGeom>
          <a:solidFill>
            <a:srgbClr val="2F9E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ontserrat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319272"/>
            <a:ext cx="576072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221F20"/>
                </a:solidFill>
                <a:latin typeface="Lato"/>
              </a:rPr>
              <a:t>React screen wired to the LIVE endpoint (no mock data)</a:t>
            </a:r>
          </a:p>
        </p:txBody>
      </p:sp>
      <p:sp>
        <p:nvSpPr>
          <p:cNvPr id="15" name="Oval 14"/>
          <p:cNvSpPr/>
          <p:nvPr/>
        </p:nvSpPr>
        <p:spPr>
          <a:xfrm>
            <a:off x="822960" y="4014216"/>
            <a:ext cx="256032" cy="256032"/>
          </a:xfrm>
          <a:prstGeom prst="ellipse">
            <a:avLst/>
          </a:prstGeom>
          <a:solidFill>
            <a:srgbClr val="2F9E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ontserrat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3959352"/>
            <a:ext cx="576072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221F20"/>
                </a:solidFill>
                <a:latin typeface="Lato"/>
              </a:rPr>
              <a:t>Witness / consent / eligibility rules enforced server-side AND shown in UI</a:t>
            </a:r>
          </a:p>
        </p:txBody>
      </p:sp>
      <p:sp>
        <p:nvSpPr>
          <p:cNvPr id="17" name="Oval 16"/>
          <p:cNvSpPr/>
          <p:nvPr/>
        </p:nvSpPr>
        <p:spPr>
          <a:xfrm>
            <a:off x="822960" y="4654296"/>
            <a:ext cx="256032" cy="256032"/>
          </a:xfrm>
          <a:prstGeom prst="ellipse">
            <a:avLst/>
          </a:prstGeom>
          <a:solidFill>
            <a:srgbClr val="2F9E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ontserrat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4599432"/>
            <a:ext cx="576072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221F20"/>
                </a:solidFill>
                <a:latin typeface="Lato"/>
              </a:rPr>
              <a:t>Brand matches the prototype; IDs &amp; values in mono</a:t>
            </a:r>
          </a:p>
        </p:txBody>
      </p:sp>
      <p:sp>
        <p:nvSpPr>
          <p:cNvPr id="19" name="Oval 18"/>
          <p:cNvSpPr/>
          <p:nvPr/>
        </p:nvSpPr>
        <p:spPr>
          <a:xfrm>
            <a:off x="822960" y="5294376"/>
            <a:ext cx="256032" cy="256032"/>
          </a:xfrm>
          <a:prstGeom prst="ellipse">
            <a:avLst/>
          </a:prstGeom>
          <a:solidFill>
            <a:srgbClr val="2F9E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ontserrat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34440" y="5239512"/>
            <a:ext cx="576072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221F20"/>
                </a:solidFill>
                <a:latin typeface="Lato"/>
              </a:rPr>
              <a:t>Requirement ticked; MIVF / SME notified for clinical sign-off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0" y="1371600"/>
            <a:ext cx="4297680" cy="4480560"/>
          </a:xfrm>
          <a:prstGeom prst="roundRect">
            <a:avLst/>
          </a:prstGeom>
          <a:solidFill>
            <a:srgbClr val="221F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89520" y="1554480"/>
            <a:ext cx="3840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45A59D"/>
                </a:solidFill>
                <a:latin typeface="Montserrat"/>
              </a:rPr>
              <a:t>What's in the repo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89520" y="2148840"/>
            <a:ext cx="3840480" cy="6858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1">
                <a:solidFill>
                  <a:srgbClr val="FFFFFF"/>
                </a:solidFill>
                <a:latin typeface="Consolas"/>
              </a:rPr>
              <a:t>docs/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CFE6E2"/>
                </a:solidFill>
                <a:latin typeface="Lato"/>
              </a:rPr>
              <a:t>README + 01-06: data model, API, frontend, CRUD, code-drop, treatment-type templates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9520" y="2898648"/>
            <a:ext cx="3840480" cy="6858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1">
                <a:solidFill>
                  <a:srgbClr val="FFFFFF"/>
                </a:solidFill>
                <a:latin typeface="Consolas"/>
              </a:rPr>
              <a:t>backend/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CFE6E2"/>
                </a:solidFill>
                <a:latin typeface="Lato"/>
              </a:rPr>
              <a:t>working C#: EmbryoEvent, Opu, CryoTank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89520" y="3648456"/>
            <a:ext cx="3840480" cy="6858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1">
                <a:solidFill>
                  <a:srgbClr val="FFFFFF"/>
                </a:solidFill>
                <a:latin typeface="Consolas"/>
              </a:rPr>
              <a:t>docs/templates/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CFE6E2"/>
                </a:solidFill>
                <a:latin typeface="Lato"/>
              </a:rPr>
              <a:t>treatment-type-display-templates.json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0" y="4398264"/>
            <a:ext cx="3840480" cy="6858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1">
                <a:solidFill>
                  <a:srgbClr val="FFFFFF"/>
                </a:solidFill>
                <a:latin typeface="Consolas"/>
              </a:rPr>
              <a:t>docs/slides/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CFE6E2"/>
                </a:solidFill>
                <a:latin typeface="Lato"/>
              </a:rPr>
              <a:t>this deck + generator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89520" y="5394960"/>
            <a:ext cx="384048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45A59D"/>
                </a:solidFill>
                <a:latin typeface="Consolas"/>
              </a:rPr>
              <a:t>github.com/Jkosobucki/OXARv1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45A5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0584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F7D76"/>
                </a:solidFill>
                <a:latin typeface="Montserrat"/>
              </a:rPr>
              <a:t>SHOW ONLY WHAT MATTERS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02336"/>
            <a:ext cx="1051560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221F20"/>
                </a:solidFill>
                <a:latin typeface="Montserrat"/>
              </a:rPr>
              <a:t>One template per treatment type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292840" y="292608"/>
            <a:ext cx="566928" cy="457200"/>
          </a:xfrm>
          <a:prstGeom prst="roundRect">
            <a:avLst/>
          </a:prstGeom>
          <a:solidFill>
            <a:srgbClr val="EA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>
                <a:solidFill>
                  <a:srgbClr val="2F7D76"/>
                </a:solidFill>
                <a:latin typeface="Montserrat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80160"/>
            <a:ext cx="110642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221F20"/>
                </a:solidFill>
                <a:latin typeface="Lato"/>
              </a:rPr>
              <a:t>Today every cycle shows every tab and field. Instead, the </a:t>
            </a:r>
            <a:r>
              <a:rPr sz="1600" b="1">
                <a:solidFill>
                  <a:srgbClr val="2F7D76"/>
                </a:solidFill>
                <a:latin typeface="Lato"/>
              </a:rPr>
              <a:t>treatment type</a:t>
            </a:r>
            <a:r>
              <a:rPr sz="1600" b="0">
                <a:solidFill>
                  <a:srgbClr val="221F20"/>
                </a:solidFill>
                <a:latin typeface="Lato"/>
              </a:rPr>
              <a:t> (with the patient) drives a template that </a:t>
            </a:r>
            <a:r>
              <a:rPr sz="1600" b="1">
                <a:solidFill>
                  <a:srgbClr val="2F7D76"/>
                </a:solidFill>
                <a:latin typeface="Lato"/>
              </a:rPr>
              <a:t>hides what's irrelevant and surfaces the right steps</a:t>
            </a:r>
            <a:r>
              <a:rPr sz="1600" b="0">
                <a:solidFill>
                  <a:srgbClr val="221F20"/>
                </a:solidFill>
                <a:latin typeface="Lato"/>
              </a:rPr>
              <a:t> — faster, safer data entry for the embryologist.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487168"/>
            <a:ext cx="310896" cy="310896"/>
          </a:xfrm>
          <a:prstGeom prst="roundRect">
            <a:avLst/>
          </a:prstGeom>
          <a:solidFill>
            <a:srgbClr val="45A5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450592"/>
            <a:ext cx="105156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21F20"/>
                </a:solidFill>
                <a:latin typeface="Lato"/>
              </a:rPr>
              <a:t>Pick patient + treatment type</a:t>
            </a:r>
            <a:r>
              <a:rPr sz="1500" b="0">
                <a:solidFill>
                  <a:srgbClr val="6C7C7A"/>
                </a:solidFill>
                <a:latin typeface="Lato"/>
              </a:rPr>
              <a:t> on the Treatment Cycle.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054096"/>
            <a:ext cx="310896" cy="310896"/>
          </a:xfrm>
          <a:prstGeom prst="roundRect">
            <a:avLst/>
          </a:prstGeom>
          <a:solidFill>
            <a:srgbClr val="45A5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017520"/>
            <a:ext cx="105156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21F20"/>
                </a:solidFill>
                <a:latin typeface="Lato"/>
              </a:rPr>
              <a:t>Template loads</a:t>
            </a:r>
            <a:r>
              <a:rPr sz="1500" b="0">
                <a:solidFill>
                  <a:srgbClr val="6C7C7A"/>
                </a:solidFill>
                <a:latin typeface="Lato"/>
              </a:rPr>
              <a:t> — hides the tabs/fields that don't apply, shows the ones that do.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621024"/>
            <a:ext cx="310896" cy="310896"/>
          </a:xfrm>
          <a:prstGeom prst="roundRect">
            <a:avLst/>
          </a:prstGeom>
          <a:solidFill>
            <a:srgbClr val="45A5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584448"/>
            <a:ext cx="105156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21F20"/>
                </a:solidFill>
                <a:latin typeface="Lato"/>
              </a:rPr>
              <a:t>Lab steps seed automatically</a:t>
            </a:r>
            <a:r>
              <a:rPr sz="1500" b="0">
                <a:solidFill>
                  <a:srgbClr val="6C7C7A"/>
                </a:solidFill>
                <a:latin typeface="Lato"/>
              </a:rPr>
              <a:t> — the worklist lists the right procedures for that type.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187952"/>
            <a:ext cx="310896" cy="310896"/>
          </a:xfrm>
          <a:prstGeom prst="roundRect">
            <a:avLst/>
          </a:prstGeom>
          <a:solidFill>
            <a:srgbClr val="45A5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151376"/>
            <a:ext cx="105156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21F20"/>
                </a:solidFill>
                <a:latin typeface="Lato"/>
              </a:rPr>
              <a:t>Managers can tune templates</a:t>
            </a:r>
            <a:r>
              <a:rPr sz="1500" b="0">
                <a:solidFill>
                  <a:srgbClr val="6C7C7A"/>
                </a:solidFill>
                <a:latin typeface="Lato"/>
              </a:rPr>
              <a:t> in the admin screen (reference data, not hard-coded).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5029200"/>
            <a:ext cx="10881360" cy="640080"/>
          </a:xfrm>
          <a:prstGeom prst="roundRect">
            <a:avLst/>
          </a:prstGeom>
          <a:solidFill>
            <a:srgbClr val="EA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50" b="1">
                <a:solidFill>
                  <a:srgbClr val="2F7D76"/>
                </a:solidFill>
                <a:latin typeface="Montserrat"/>
              </a:rPr>
              <a:t>Reuses the Event Template design (bcrm_eventtemplate keyed by treatment type)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728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6C7C7A"/>
                </a:solidFill>
                <a:latin typeface="Lato"/>
              </a:rPr>
              <a:t>8 treatment types: IVF · Egg Only · Embryo Transfer · VOT · IUI · Ovulation Induction · Tracking · Thaw &amp; Refreeze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45A5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0584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F7D76"/>
                </a:solidFill>
                <a:latin typeface="Montserrat"/>
              </a:rPr>
              <a:t>AT A GLANCE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02336"/>
            <a:ext cx="1051560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221F20"/>
                </a:solidFill>
                <a:latin typeface="Montserrat"/>
              </a:rPr>
              <a:t>Key lab steps by treatment type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292840" y="292608"/>
            <a:ext cx="566928" cy="457200"/>
          </a:xfrm>
          <a:prstGeom prst="roundRect">
            <a:avLst/>
          </a:prstGeom>
          <a:solidFill>
            <a:srgbClr val="EA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>
                <a:solidFill>
                  <a:srgbClr val="2F7D76"/>
                </a:solidFill>
                <a:latin typeface="Montserrat"/>
              </a:rPr>
              <a:t>15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66160" y="1417320"/>
            <a:ext cx="996696" cy="310896"/>
          </a:xfrm>
          <a:prstGeom prst="roundRect">
            <a:avLst/>
          </a:prstGeom>
          <a:solidFill>
            <a:srgbClr val="2F7D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Montserrat"/>
              </a:rPr>
              <a:t>IVF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17720" y="1417320"/>
            <a:ext cx="996696" cy="310896"/>
          </a:xfrm>
          <a:prstGeom prst="roundRect">
            <a:avLst/>
          </a:prstGeom>
          <a:solidFill>
            <a:srgbClr val="2F7D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Montserrat"/>
              </a:rPr>
              <a:t>Egg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0" y="1417320"/>
            <a:ext cx="996696" cy="310896"/>
          </a:xfrm>
          <a:prstGeom prst="roundRect">
            <a:avLst/>
          </a:prstGeom>
          <a:solidFill>
            <a:srgbClr val="2F7D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Montserrat"/>
              </a:rPr>
              <a:t>FET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20840" y="1417320"/>
            <a:ext cx="996696" cy="310896"/>
          </a:xfrm>
          <a:prstGeom prst="roundRect">
            <a:avLst/>
          </a:prstGeom>
          <a:solidFill>
            <a:srgbClr val="2F7D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Montserrat"/>
              </a:rPr>
              <a:t>VOT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0" y="1417320"/>
            <a:ext cx="996696" cy="310896"/>
          </a:xfrm>
          <a:prstGeom prst="roundRect">
            <a:avLst/>
          </a:prstGeom>
          <a:solidFill>
            <a:srgbClr val="2F7D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Montserrat"/>
              </a:rPr>
              <a:t>IUI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23960" y="1417320"/>
            <a:ext cx="996696" cy="310896"/>
          </a:xfrm>
          <a:prstGeom prst="roundRect">
            <a:avLst/>
          </a:prstGeom>
          <a:solidFill>
            <a:srgbClr val="2F7D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Montserrat"/>
              </a:rPr>
              <a:t>OI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875520" y="1417320"/>
            <a:ext cx="996696" cy="310896"/>
          </a:xfrm>
          <a:prstGeom prst="roundRect">
            <a:avLst/>
          </a:prstGeom>
          <a:solidFill>
            <a:srgbClr val="2F7D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Montserrat"/>
              </a:rPr>
              <a:t>Trk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927080" y="1417320"/>
            <a:ext cx="996696" cy="310896"/>
          </a:xfrm>
          <a:prstGeom prst="roundRect">
            <a:avLst/>
          </a:prstGeom>
          <a:solidFill>
            <a:srgbClr val="2F7D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Montserrat"/>
              </a:rPr>
              <a:t>T+R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1837944"/>
            <a:ext cx="11375136" cy="301752"/>
          </a:xfrm>
          <a:prstGeom prst="rect">
            <a:avLst/>
          </a:prstGeom>
          <a:solidFill>
            <a:srgbClr val="EA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3504" y="1837944"/>
            <a:ext cx="3017520" cy="3383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>
                <a:solidFill>
                  <a:srgbClr val="221F20"/>
                </a:solidFill>
                <a:latin typeface="Lato"/>
              </a:rPr>
              <a:t>Consent &amp; 3-Point Check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1837944"/>
            <a:ext cx="1051560" cy="3383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F9E6F"/>
                </a:solidFill>
                <a:latin typeface="Montserrat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1837944"/>
            <a:ext cx="1051560" cy="3383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F9E6F"/>
                </a:solidFill>
                <a:latin typeface="Montserrat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0" y="1837944"/>
            <a:ext cx="1051560" cy="3383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F9E6F"/>
                </a:solidFill>
                <a:latin typeface="Montserrat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20840" y="1837944"/>
            <a:ext cx="1051560" cy="3383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F9E6F"/>
                </a:solidFill>
                <a:latin typeface="Montserrat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0" y="1837944"/>
            <a:ext cx="1051560" cy="3383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F9E6F"/>
                </a:solidFill>
                <a:latin typeface="Montserrat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23960" y="1837944"/>
            <a:ext cx="1051560" cy="3383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F9E6F"/>
                </a:solidFill>
                <a:latin typeface="Montserrat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75520" y="1837944"/>
            <a:ext cx="1051560" cy="3383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C7C7A"/>
                </a:solidFill>
                <a:latin typeface="Montserrat"/>
              </a:rPr>
              <a:t>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27080" y="1837944"/>
            <a:ext cx="1051560" cy="3383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F9E6F"/>
                </a:solidFill>
                <a:latin typeface="Montserrat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3504" y="2176272"/>
            <a:ext cx="3017520" cy="3383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>
                <a:solidFill>
                  <a:srgbClr val="221F20"/>
                </a:solidFill>
                <a:latin typeface="Lato"/>
              </a:rPr>
              <a:t>Ovarian Stimulation (Drugs)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66160" y="2176272"/>
            <a:ext cx="1051560" cy="3383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F9E6F"/>
                </a:solidFill>
                <a:latin typeface="Montserrat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17720" y="2176272"/>
            <a:ext cx="1051560" cy="3383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F9E6F"/>
                </a:solidFill>
                <a:latin typeface="Montserrat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0" y="2176272"/>
            <a:ext cx="1051560" cy="3383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C7C7A"/>
                </a:solidFill>
                <a:latin typeface="Montserrat"/>
              </a:rPr>
              <a:t>·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20840" y="2176272"/>
            <a:ext cx="1051560" cy="3383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C7C7A"/>
                </a:solidFill>
                <a:latin typeface="Montserrat"/>
              </a:rPr>
              <a:t>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0" y="2176272"/>
            <a:ext cx="1051560" cy="3383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C9821C"/>
                </a:solidFill>
                <a:latin typeface="Montserrat"/>
              </a:rPr>
              <a:t>––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23960" y="2176272"/>
            <a:ext cx="1051560" cy="3383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F9E6F"/>
                </a:solidFill>
                <a:latin typeface="Montserrat"/>
              </a:rPr>
              <a:t>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75520" y="2176272"/>
            <a:ext cx="1051560" cy="3383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C7C7A"/>
                </a:solidFill>
                <a:latin typeface="Montserrat"/>
              </a:rPr>
              <a:t>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27080" y="2176272"/>
            <a:ext cx="1051560" cy="3383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C7C7A"/>
                </a:solidFill>
                <a:latin typeface="Montserrat"/>
              </a:rPr>
              <a:t>·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2514600"/>
            <a:ext cx="11375136" cy="301752"/>
          </a:xfrm>
          <a:prstGeom prst="rect">
            <a:avLst/>
          </a:prstGeom>
          <a:solidFill>
            <a:srgbClr val="EA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3504" y="2514600"/>
            <a:ext cx="3017520" cy="3383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>
                <a:solidFill>
                  <a:srgbClr val="221F20"/>
                </a:solidFill>
                <a:latin typeface="Lato"/>
              </a:rPr>
              <a:t>Folliculogram monitoring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66160" y="2514600"/>
            <a:ext cx="1051560" cy="3383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F9E6F"/>
                </a:solidFill>
                <a:latin typeface="Montserrat"/>
              </a:rPr>
              <a:t>✓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17720" y="2514600"/>
            <a:ext cx="1051560" cy="3383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F9E6F"/>
                </a:solidFill>
                <a:latin typeface="Montserrat"/>
              </a:rPr>
              <a:t>✓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69280" y="2514600"/>
            <a:ext cx="1051560" cy="3383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C9821C"/>
                </a:solidFill>
                <a:latin typeface="Montserrat"/>
              </a:rPr>
              <a:t>––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720840" y="2514600"/>
            <a:ext cx="1051560" cy="3383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C7C7A"/>
                </a:solidFill>
                <a:latin typeface="Montserrat"/>
              </a:rPr>
              <a:t>·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2400" y="2514600"/>
            <a:ext cx="1051560" cy="3383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F9E6F"/>
                </a:solidFill>
                <a:latin typeface="Montserrat"/>
              </a:rPr>
              <a:t>✓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823960" y="2514600"/>
            <a:ext cx="1051560" cy="3383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F9E6F"/>
                </a:solidFill>
                <a:latin typeface="Montserrat"/>
              </a:rPr>
              <a:t>✓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75520" y="2514600"/>
            <a:ext cx="1051560" cy="3383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F9E6F"/>
                </a:solidFill>
                <a:latin typeface="Montserrat"/>
              </a:rPr>
              <a:t>✓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27080" y="2514600"/>
            <a:ext cx="1051560" cy="3383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C7C7A"/>
                </a:solidFill>
                <a:latin typeface="Montserrat"/>
              </a:rPr>
              <a:t>·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03504" y="2852928"/>
            <a:ext cx="3017520" cy="3383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>
                <a:solidFill>
                  <a:srgbClr val="221F20"/>
                </a:solidFill>
                <a:latin typeface="Lato"/>
              </a:rPr>
              <a:t>OPU (Egg Collection)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66160" y="2852928"/>
            <a:ext cx="1051560" cy="3383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F9E6F"/>
                </a:solidFill>
                <a:latin typeface="Montserrat"/>
              </a:rPr>
              <a:t>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617720" y="2852928"/>
            <a:ext cx="1051560" cy="3383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F9E6F"/>
                </a:solidFill>
                <a:latin typeface="Montserrat"/>
              </a:rPr>
              <a:t>✓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69280" y="2852928"/>
            <a:ext cx="1051560" cy="3383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C7C7A"/>
                </a:solidFill>
                <a:latin typeface="Montserrat"/>
              </a:rPr>
              <a:t>·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720840" y="2852928"/>
            <a:ext cx="1051560" cy="3383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C7C7A"/>
                </a:solidFill>
                <a:latin typeface="Montserrat"/>
              </a:rPr>
              <a:t>·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772400" y="2852928"/>
            <a:ext cx="1051560" cy="3383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C7C7A"/>
                </a:solidFill>
                <a:latin typeface="Montserrat"/>
              </a:rPr>
              <a:t>·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823960" y="2852928"/>
            <a:ext cx="1051560" cy="3383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C7C7A"/>
                </a:solidFill>
                <a:latin typeface="Montserrat"/>
              </a:rPr>
              <a:t>·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875520" y="2852928"/>
            <a:ext cx="1051560" cy="3383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C7C7A"/>
                </a:solidFill>
                <a:latin typeface="Montserrat"/>
              </a:rPr>
              <a:t>·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927080" y="2852928"/>
            <a:ext cx="1051560" cy="3383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C7C7A"/>
                </a:solidFill>
                <a:latin typeface="Montserrat"/>
              </a:rPr>
              <a:t>·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48640" y="3191256"/>
            <a:ext cx="11375136" cy="301752"/>
          </a:xfrm>
          <a:prstGeom prst="rect">
            <a:avLst/>
          </a:prstGeom>
          <a:solidFill>
            <a:srgbClr val="EA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03504" y="3191256"/>
            <a:ext cx="3017520" cy="3383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>
                <a:solidFill>
                  <a:srgbClr val="221F20"/>
                </a:solidFill>
                <a:latin typeface="Lato"/>
              </a:rPr>
              <a:t>Oocyte Thaw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566160" y="3191256"/>
            <a:ext cx="1051560" cy="3383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C7C7A"/>
                </a:solidFill>
                <a:latin typeface="Montserrat"/>
              </a:rPr>
              <a:t>·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17720" y="3191256"/>
            <a:ext cx="1051560" cy="3383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C7C7A"/>
                </a:solidFill>
                <a:latin typeface="Montserrat"/>
              </a:rPr>
              <a:t>·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669280" y="3191256"/>
            <a:ext cx="1051560" cy="3383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C7C7A"/>
                </a:solidFill>
                <a:latin typeface="Montserrat"/>
              </a:rPr>
              <a:t>·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720840" y="3191256"/>
            <a:ext cx="1051560" cy="3383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F9E6F"/>
                </a:solidFill>
                <a:latin typeface="Montserrat"/>
              </a:rPr>
              <a:t>✓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72400" y="3191256"/>
            <a:ext cx="1051560" cy="3383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C7C7A"/>
                </a:solidFill>
                <a:latin typeface="Montserrat"/>
              </a:rPr>
              <a:t>·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823960" y="3191256"/>
            <a:ext cx="1051560" cy="3383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C7C7A"/>
                </a:solidFill>
                <a:latin typeface="Montserrat"/>
              </a:rPr>
              <a:t>·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75520" y="3191256"/>
            <a:ext cx="1051560" cy="3383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C7C7A"/>
                </a:solidFill>
                <a:latin typeface="Montserrat"/>
              </a:rPr>
              <a:t>·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927080" y="3191256"/>
            <a:ext cx="1051560" cy="3383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F9E6F"/>
                </a:solidFill>
                <a:latin typeface="Montserrat"/>
              </a:rPr>
              <a:t>✓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03504" y="3529584"/>
            <a:ext cx="3017520" cy="3383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>
                <a:solidFill>
                  <a:srgbClr val="221F20"/>
                </a:solidFill>
                <a:latin typeface="Lato"/>
              </a:rPr>
              <a:t>Semen Prep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566160" y="3529584"/>
            <a:ext cx="1051560" cy="3383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F9E6F"/>
                </a:solidFill>
                <a:latin typeface="Montserrat"/>
              </a:rPr>
              <a:t>✓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617720" y="3529584"/>
            <a:ext cx="1051560" cy="3383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C7C7A"/>
                </a:solidFill>
                <a:latin typeface="Montserrat"/>
              </a:rPr>
              <a:t>·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669280" y="3529584"/>
            <a:ext cx="1051560" cy="3383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C7C7A"/>
                </a:solidFill>
                <a:latin typeface="Montserrat"/>
              </a:rPr>
              <a:t>·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720840" y="3529584"/>
            <a:ext cx="1051560" cy="3383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F9E6F"/>
                </a:solidFill>
                <a:latin typeface="Montserrat"/>
              </a:rPr>
              <a:t>✓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772400" y="3529584"/>
            <a:ext cx="1051560" cy="3383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F9E6F"/>
                </a:solidFill>
                <a:latin typeface="Montserrat"/>
              </a:rPr>
              <a:t>✓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823960" y="3529584"/>
            <a:ext cx="1051560" cy="3383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C7C7A"/>
                </a:solidFill>
                <a:latin typeface="Montserrat"/>
              </a:rPr>
              <a:t>·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875520" y="3529584"/>
            <a:ext cx="1051560" cy="3383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C7C7A"/>
                </a:solidFill>
                <a:latin typeface="Montserrat"/>
              </a:rPr>
              <a:t>·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927080" y="3529584"/>
            <a:ext cx="1051560" cy="3383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C7C7A"/>
                </a:solidFill>
                <a:latin typeface="Montserrat"/>
              </a:rPr>
              <a:t>·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48640" y="3867912"/>
            <a:ext cx="11375136" cy="301752"/>
          </a:xfrm>
          <a:prstGeom prst="rect">
            <a:avLst/>
          </a:prstGeom>
          <a:solidFill>
            <a:srgbClr val="EA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03504" y="3867912"/>
            <a:ext cx="3017520" cy="3383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>
                <a:solidFill>
                  <a:srgbClr val="221F20"/>
                </a:solidFill>
                <a:latin typeface="Lato"/>
              </a:rPr>
              <a:t>Insemination (IVF/ICSI)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566160" y="3867912"/>
            <a:ext cx="1051560" cy="3383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F9E6F"/>
                </a:solidFill>
                <a:latin typeface="Montserrat"/>
              </a:rPr>
              <a:t>✓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617720" y="3867912"/>
            <a:ext cx="1051560" cy="3383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C7C7A"/>
                </a:solidFill>
                <a:latin typeface="Montserrat"/>
              </a:rPr>
              <a:t>·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669280" y="3867912"/>
            <a:ext cx="1051560" cy="3383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C7C7A"/>
                </a:solidFill>
                <a:latin typeface="Montserrat"/>
              </a:rPr>
              <a:t>·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720840" y="3867912"/>
            <a:ext cx="1051560" cy="3383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F9E6F"/>
                </a:solidFill>
                <a:latin typeface="Montserrat"/>
              </a:rPr>
              <a:t>✓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772400" y="3867912"/>
            <a:ext cx="1051560" cy="3383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C7C7A"/>
                </a:solidFill>
                <a:latin typeface="Montserrat"/>
              </a:rPr>
              <a:t>·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823960" y="3867912"/>
            <a:ext cx="1051560" cy="3383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C7C7A"/>
                </a:solidFill>
                <a:latin typeface="Montserrat"/>
              </a:rPr>
              <a:t>·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875520" y="3867912"/>
            <a:ext cx="1051560" cy="3383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C7C7A"/>
                </a:solidFill>
                <a:latin typeface="Montserrat"/>
              </a:rPr>
              <a:t>·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927080" y="3867912"/>
            <a:ext cx="1051560" cy="3383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C7C7A"/>
                </a:solidFill>
                <a:latin typeface="Montserrat"/>
              </a:rPr>
              <a:t>·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03504" y="4206240"/>
            <a:ext cx="3017520" cy="3383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>
                <a:solidFill>
                  <a:srgbClr val="221F20"/>
                </a:solidFill>
                <a:latin typeface="Lato"/>
              </a:rPr>
              <a:t>IUI insemination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566160" y="4206240"/>
            <a:ext cx="1051560" cy="3383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C7C7A"/>
                </a:solidFill>
                <a:latin typeface="Montserrat"/>
              </a:rPr>
              <a:t>·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617720" y="4206240"/>
            <a:ext cx="1051560" cy="3383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C7C7A"/>
                </a:solidFill>
                <a:latin typeface="Montserrat"/>
              </a:rPr>
              <a:t>·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669280" y="4206240"/>
            <a:ext cx="1051560" cy="3383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C7C7A"/>
                </a:solidFill>
                <a:latin typeface="Montserrat"/>
              </a:rPr>
              <a:t>·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720840" y="4206240"/>
            <a:ext cx="1051560" cy="3383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C7C7A"/>
                </a:solidFill>
                <a:latin typeface="Montserrat"/>
              </a:rPr>
              <a:t>·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772400" y="4206240"/>
            <a:ext cx="1051560" cy="3383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F9E6F"/>
                </a:solidFill>
                <a:latin typeface="Montserrat"/>
              </a:rPr>
              <a:t>✓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823960" y="4206240"/>
            <a:ext cx="1051560" cy="3383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C7C7A"/>
                </a:solidFill>
                <a:latin typeface="Montserrat"/>
              </a:rPr>
              <a:t>·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875520" y="4206240"/>
            <a:ext cx="1051560" cy="3383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C7C7A"/>
                </a:solidFill>
                <a:latin typeface="Montserrat"/>
              </a:rPr>
              <a:t>·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0927080" y="4206240"/>
            <a:ext cx="1051560" cy="3383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C7C7A"/>
                </a:solidFill>
                <a:latin typeface="Montserrat"/>
              </a:rPr>
              <a:t>·</a:t>
            </a:r>
          </a:p>
        </p:txBody>
      </p:sp>
      <p:sp>
        <p:nvSpPr>
          <p:cNvPr id="91" name="Rectangle 90"/>
          <p:cNvSpPr/>
          <p:nvPr/>
        </p:nvSpPr>
        <p:spPr>
          <a:xfrm>
            <a:off x="548640" y="4544568"/>
            <a:ext cx="11375136" cy="301752"/>
          </a:xfrm>
          <a:prstGeom prst="rect">
            <a:avLst/>
          </a:prstGeom>
          <a:solidFill>
            <a:srgbClr val="EA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03504" y="4544568"/>
            <a:ext cx="3017520" cy="3383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>
                <a:solidFill>
                  <a:srgbClr val="221F20"/>
                </a:solidFill>
                <a:latin typeface="Lato"/>
              </a:rPr>
              <a:t>Fertilisation + Culture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566160" y="4544568"/>
            <a:ext cx="1051560" cy="3383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F9E6F"/>
                </a:solidFill>
                <a:latin typeface="Montserrat"/>
              </a:rPr>
              <a:t>✓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617720" y="4544568"/>
            <a:ext cx="1051560" cy="3383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C7C7A"/>
                </a:solidFill>
                <a:latin typeface="Montserrat"/>
              </a:rPr>
              <a:t>·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669280" y="4544568"/>
            <a:ext cx="1051560" cy="3383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C7C7A"/>
                </a:solidFill>
                <a:latin typeface="Montserrat"/>
              </a:rPr>
              <a:t>·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720840" y="4544568"/>
            <a:ext cx="1051560" cy="3383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F9E6F"/>
                </a:solidFill>
                <a:latin typeface="Montserrat"/>
              </a:rPr>
              <a:t>✓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7772400" y="4544568"/>
            <a:ext cx="1051560" cy="3383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C7C7A"/>
                </a:solidFill>
                <a:latin typeface="Montserrat"/>
              </a:rPr>
              <a:t>·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823960" y="4544568"/>
            <a:ext cx="1051560" cy="3383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C7C7A"/>
                </a:solidFill>
                <a:latin typeface="Montserrat"/>
              </a:rPr>
              <a:t>·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9875520" y="4544568"/>
            <a:ext cx="1051560" cy="3383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C7C7A"/>
                </a:solidFill>
                <a:latin typeface="Montserrat"/>
              </a:rPr>
              <a:t>·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0927080" y="4544568"/>
            <a:ext cx="1051560" cy="3383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C7C7A"/>
                </a:solidFill>
                <a:latin typeface="Montserrat"/>
              </a:rPr>
              <a:t>·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03504" y="4882896"/>
            <a:ext cx="3017520" cy="3383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>
                <a:solidFill>
                  <a:srgbClr val="221F20"/>
                </a:solidFill>
                <a:latin typeface="Lato"/>
              </a:rPr>
              <a:t>Embryo Thaw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3566160" y="4882896"/>
            <a:ext cx="1051560" cy="3383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C9821C"/>
                </a:solidFill>
                <a:latin typeface="Montserrat"/>
              </a:rPr>
              <a:t>––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4617720" y="4882896"/>
            <a:ext cx="1051560" cy="3383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C7C7A"/>
                </a:solidFill>
                <a:latin typeface="Montserrat"/>
              </a:rPr>
              <a:t>·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5669280" y="4882896"/>
            <a:ext cx="1051560" cy="3383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F9E6F"/>
                </a:solidFill>
                <a:latin typeface="Montserrat"/>
              </a:rPr>
              <a:t>✓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720840" y="4882896"/>
            <a:ext cx="1051560" cy="3383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C7C7A"/>
                </a:solidFill>
                <a:latin typeface="Montserrat"/>
              </a:rPr>
              <a:t>·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772400" y="4882896"/>
            <a:ext cx="1051560" cy="3383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C7C7A"/>
                </a:solidFill>
                <a:latin typeface="Montserrat"/>
              </a:rPr>
              <a:t>·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823960" y="4882896"/>
            <a:ext cx="1051560" cy="3383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C7C7A"/>
                </a:solidFill>
                <a:latin typeface="Montserrat"/>
              </a:rPr>
              <a:t>·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875520" y="4882896"/>
            <a:ext cx="1051560" cy="3383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C7C7A"/>
                </a:solidFill>
                <a:latin typeface="Montserrat"/>
              </a:rPr>
              <a:t>·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927080" y="4882896"/>
            <a:ext cx="1051560" cy="3383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C9821C"/>
                </a:solidFill>
                <a:latin typeface="Montserrat"/>
              </a:rPr>
              <a:t>––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48640" y="5221224"/>
            <a:ext cx="11375136" cy="301752"/>
          </a:xfrm>
          <a:prstGeom prst="rect">
            <a:avLst/>
          </a:prstGeom>
          <a:solidFill>
            <a:srgbClr val="EA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603504" y="5221224"/>
            <a:ext cx="3017520" cy="3383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>
                <a:solidFill>
                  <a:srgbClr val="221F20"/>
                </a:solidFill>
                <a:latin typeface="Lato"/>
              </a:rPr>
              <a:t>Embryo Transfer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3566160" y="5221224"/>
            <a:ext cx="1051560" cy="3383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F9E6F"/>
                </a:solidFill>
                <a:latin typeface="Montserrat"/>
              </a:rPr>
              <a:t>✓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617720" y="5221224"/>
            <a:ext cx="1051560" cy="3383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C7C7A"/>
                </a:solidFill>
                <a:latin typeface="Montserrat"/>
              </a:rPr>
              <a:t>·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5669280" y="5221224"/>
            <a:ext cx="1051560" cy="3383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F9E6F"/>
                </a:solidFill>
                <a:latin typeface="Montserrat"/>
              </a:rPr>
              <a:t>✓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6720840" y="5221224"/>
            <a:ext cx="1051560" cy="3383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F9E6F"/>
                </a:solidFill>
                <a:latin typeface="Montserrat"/>
              </a:rPr>
              <a:t>✓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7772400" y="5221224"/>
            <a:ext cx="1051560" cy="3383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C7C7A"/>
                </a:solidFill>
                <a:latin typeface="Montserrat"/>
              </a:rPr>
              <a:t>·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8823960" y="5221224"/>
            <a:ext cx="1051560" cy="3383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C7C7A"/>
                </a:solidFill>
                <a:latin typeface="Montserrat"/>
              </a:rPr>
              <a:t>·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9875520" y="5221224"/>
            <a:ext cx="1051560" cy="3383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C7C7A"/>
                </a:solidFill>
                <a:latin typeface="Montserrat"/>
              </a:rPr>
              <a:t>·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0927080" y="5221224"/>
            <a:ext cx="1051560" cy="3383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C7C7A"/>
                </a:solidFill>
                <a:latin typeface="Montserrat"/>
              </a:rPr>
              <a:t>·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03504" y="5559552"/>
            <a:ext cx="3017520" cy="3383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>
                <a:solidFill>
                  <a:srgbClr val="221F20"/>
                </a:solidFill>
                <a:latin typeface="Lato"/>
              </a:rPr>
              <a:t>Freeze / Store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3566160" y="5559552"/>
            <a:ext cx="1051560" cy="3383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F9E6F"/>
                </a:solidFill>
                <a:latin typeface="Montserrat"/>
              </a:rPr>
              <a:t>✓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4617720" y="5559552"/>
            <a:ext cx="1051560" cy="3383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F9E6F"/>
                </a:solidFill>
                <a:latin typeface="Montserrat"/>
              </a:rPr>
              <a:t>✓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5669280" y="5559552"/>
            <a:ext cx="1051560" cy="3383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C7C7A"/>
                </a:solidFill>
                <a:latin typeface="Montserrat"/>
              </a:rPr>
              <a:t>·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720840" y="5559552"/>
            <a:ext cx="1051560" cy="3383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C9821C"/>
                </a:solidFill>
                <a:latin typeface="Montserrat"/>
              </a:rPr>
              <a:t>––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7772400" y="5559552"/>
            <a:ext cx="1051560" cy="3383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C7C7A"/>
                </a:solidFill>
                <a:latin typeface="Montserrat"/>
              </a:rPr>
              <a:t>·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8823960" y="5559552"/>
            <a:ext cx="1051560" cy="3383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C7C7A"/>
                </a:solidFill>
                <a:latin typeface="Montserrat"/>
              </a:rPr>
              <a:t>·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875520" y="5559552"/>
            <a:ext cx="1051560" cy="3383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C7C7A"/>
                </a:solidFill>
                <a:latin typeface="Montserrat"/>
              </a:rPr>
              <a:t>·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0927080" y="5559552"/>
            <a:ext cx="1051560" cy="3383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F9E6F"/>
                </a:solidFill>
                <a:latin typeface="Montserrat"/>
              </a:rPr>
              <a:t>✓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548640" y="5897880"/>
            <a:ext cx="11375136" cy="301752"/>
          </a:xfrm>
          <a:prstGeom prst="rect">
            <a:avLst/>
          </a:prstGeom>
          <a:solidFill>
            <a:srgbClr val="EA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603504" y="5897880"/>
            <a:ext cx="3017520" cy="3383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>
                <a:solidFill>
                  <a:srgbClr val="221F20"/>
                </a:solidFill>
                <a:latin typeface="Lato"/>
              </a:rPr>
              <a:t>Outcome / Preg test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566160" y="5897880"/>
            <a:ext cx="1051560" cy="3383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F9E6F"/>
                </a:solidFill>
                <a:latin typeface="Montserrat"/>
              </a:rPr>
              <a:t>✓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4617720" y="5897880"/>
            <a:ext cx="1051560" cy="3383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C7C7A"/>
                </a:solidFill>
                <a:latin typeface="Montserrat"/>
              </a:rPr>
              <a:t>·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669280" y="5897880"/>
            <a:ext cx="1051560" cy="3383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F9E6F"/>
                </a:solidFill>
                <a:latin typeface="Montserrat"/>
              </a:rPr>
              <a:t>✓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6720840" y="5897880"/>
            <a:ext cx="1051560" cy="3383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F9E6F"/>
                </a:solidFill>
                <a:latin typeface="Montserrat"/>
              </a:rPr>
              <a:t>✓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772400" y="5897880"/>
            <a:ext cx="1051560" cy="3383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F9E6F"/>
                </a:solidFill>
                <a:latin typeface="Montserrat"/>
              </a:rPr>
              <a:t>✓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823960" y="5897880"/>
            <a:ext cx="1051560" cy="3383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F9E6F"/>
                </a:solidFill>
                <a:latin typeface="Montserrat"/>
              </a:rPr>
              <a:t>✓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875520" y="5897880"/>
            <a:ext cx="1051560" cy="3383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C9821C"/>
                </a:solidFill>
                <a:latin typeface="Montserrat"/>
              </a:rPr>
              <a:t>––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927080" y="5897880"/>
            <a:ext cx="1051560" cy="3383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C7C7A"/>
                </a:solidFill>
                <a:latin typeface="Montserrat"/>
              </a:rPr>
              <a:t>·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48640" y="6281928"/>
            <a:ext cx="109728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C7C7A"/>
                </a:solidFill>
                <a:latin typeface="Lato"/>
              </a:rPr>
              <a:t>✓ applies      –– sometimes      · not applicable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45A5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0584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F7D76"/>
                </a:solidFill>
                <a:latin typeface="Montserrat"/>
              </a:rPr>
              <a:t>IVF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02336"/>
            <a:ext cx="1051560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221F20"/>
                </a:solidFill>
                <a:latin typeface="Montserrat"/>
              </a:rPr>
              <a:t>Full stimulated cycle — collect eggs, fertilise, transfer / freeze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292840" y="292608"/>
            <a:ext cx="566928" cy="457200"/>
          </a:xfrm>
          <a:prstGeom prst="roundRect">
            <a:avLst/>
          </a:prstGeom>
          <a:solidFill>
            <a:srgbClr val="EA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>
                <a:solidFill>
                  <a:srgbClr val="2F7D76"/>
                </a:solidFill>
                <a:latin typeface="Montserrat"/>
              </a:rPr>
              <a:t>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34440"/>
            <a:ext cx="36576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2F7D76"/>
                </a:solidFill>
                <a:latin typeface="Montserrat"/>
              </a:rPr>
              <a:t>KEY STEPS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600200"/>
            <a:ext cx="1677924" cy="329184"/>
          </a:xfrm>
          <a:prstGeom prst="roundRect">
            <a:avLst/>
          </a:prstGeom>
          <a:solidFill>
            <a:srgbClr val="2F7D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Montserrat"/>
              </a:rPr>
              <a:t>Consent &amp; 3PC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336292" y="1600200"/>
            <a:ext cx="1467612" cy="329184"/>
          </a:xfrm>
          <a:prstGeom prst="roundRect">
            <a:avLst/>
          </a:prstGeom>
          <a:solidFill>
            <a:srgbClr val="2F7D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Montserrat"/>
              </a:rPr>
              <a:t>Stimulation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13632" y="1600200"/>
            <a:ext cx="1677924" cy="329184"/>
          </a:xfrm>
          <a:prstGeom prst="roundRect">
            <a:avLst/>
          </a:prstGeom>
          <a:solidFill>
            <a:srgbClr val="2F7D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Montserrat"/>
              </a:rPr>
              <a:t>Folliculogram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701284" y="1600200"/>
            <a:ext cx="1046988" cy="329184"/>
          </a:xfrm>
          <a:prstGeom prst="roundRect">
            <a:avLst/>
          </a:prstGeom>
          <a:solidFill>
            <a:srgbClr val="2F7D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Montserrat"/>
              </a:rPr>
              <a:t>Trigger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0" y="1600200"/>
            <a:ext cx="868680" cy="329184"/>
          </a:xfrm>
          <a:prstGeom prst="roundRect">
            <a:avLst/>
          </a:prstGeom>
          <a:solidFill>
            <a:srgbClr val="2F7D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Montserrat"/>
              </a:rPr>
              <a:t>OPU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836408" y="1600200"/>
            <a:ext cx="1362456" cy="329184"/>
          </a:xfrm>
          <a:prstGeom prst="roundRect">
            <a:avLst/>
          </a:prstGeom>
          <a:solidFill>
            <a:srgbClr val="2F7D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Montserrat"/>
              </a:rPr>
              <a:t>Semen Prep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308592" y="1600200"/>
            <a:ext cx="1572768" cy="329184"/>
          </a:xfrm>
          <a:prstGeom prst="roundRect">
            <a:avLst/>
          </a:prstGeom>
          <a:solidFill>
            <a:srgbClr val="2F7D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Montserrat"/>
              </a:rPr>
              <a:t>Insemination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057400"/>
            <a:ext cx="1677924" cy="329184"/>
          </a:xfrm>
          <a:prstGeom prst="roundRect">
            <a:avLst/>
          </a:prstGeom>
          <a:solidFill>
            <a:srgbClr val="2F7D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Montserrat"/>
              </a:rPr>
              <a:t>Fertilisation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336292" y="2057400"/>
            <a:ext cx="1572768" cy="329184"/>
          </a:xfrm>
          <a:prstGeom prst="roundRect">
            <a:avLst/>
          </a:prstGeom>
          <a:solidFill>
            <a:srgbClr val="2F7D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Montserrat"/>
              </a:rPr>
              <a:t>Culture D2-7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018788" y="2057400"/>
            <a:ext cx="1152144" cy="329184"/>
          </a:xfrm>
          <a:prstGeom prst="roundRect">
            <a:avLst/>
          </a:prstGeom>
          <a:solidFill>
            <a:srgbClr val="2F7D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Montserrat"/>
              </a:rPr>
              <a:t>Transfer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280660" y="2057400"/>
            <a:ext cx="941832" cy="329184"/>
          </a:xfrm>
          <a:prstGeom prst="roundRect">
            <a:avLst/>
          </a:prstGeom>
          <a:solidFill>
            <a:srgbClr val="2F7D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Montserrat"/>
              </a:rPr>
              <a:t>Freeze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32220" y="2057400"/>
            <a:ext cx="1046988" cy="329184"/>
          </a:xfrm>
          <a:prstGeom prst="roundRect">
            <a:avLst/>
          </a:prstGeom>
          <a:solidFill>
            <a:srgbClr val="2F7D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Montserrat"/>
              </a:rPr>
              <a:t>Outcome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2752344"/>
            <a:ext cx="548640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2752344"/>
            <a:ext cx="109728" cy="2103120"/>
          </a:xfrm>
          <a:prstGeom prst="rect">
            <a:avLst/>
          </a:prstGeom>
          <a:solidFill>
            <a:srgbClr val="2F9E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2889504"/>
            <a:ext cx="50292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F9E6F"/>
                </a:solidFill>
                <a:latin typeface="Montserrat"/>
              </a:rPr>
              <a:t>SHOW THESE TABS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3319272"/>
            <a:ext cx="5029200" cy="13716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221F20"/>
                </a:solidFill>
                <a:latin typeface="Lato"/>
              </a:rPr>
              <a:t>Overview  ·  Folliculogram  ·  Drugs  ·  Oocyte Retrieval  ·  Gametes  ·  Lab Results  ·  Embryo Transfer  ·  Stored Sample  ·  Outcome Data  ·  Checklists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9360" y="2752344"/>
            <a:ext cx="548640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309360" y="2752344"/>
            <a:ext cx="109728" cy="2103120"/>
          </a:xfrm>
          <a:prstGeom prst="rect">
            <a:avLst/>
          </a:prstGeom>
          <a:solidFill>
            <a:srgbClr val="CF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37960" y="2889504"/>
            <a:ext cx="50292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CF4A4A"/>
                </a:solidFill>
                <a:latin typeface="Montserrat"/>
              </a:rPr>
              <a:t>HIDE THESE TABS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37960" y="3319272"/>
            <a:ext cx="5029200" cy="13716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221F20"/>
                </a:solidFill>
                <a:latin typeface="Lato"/>
              </a:rPr>
              <a:t>IUI/DI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217920"/>
            <a:ext cx="112471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F7D76"/>
                </a:solidFill>
                <a:latin typeface="Lato"/>
              </a:rPr>
              <a:t>Fields:  </a:t>
            </a:r>
            <a:r>
              <a:rPr sz="1200" b="0">
                <a:solidFill>
                  <a:srgbClr val="6C7C7A"/>
                </a:solidFill>
                <a:latin typeface="Lato"/>
              </a:rPr>
              <a:t>Show partner, diagnosis, sperm source, # embryos to replace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45A5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0584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F7D76"/>
                </a:solidFill>
                <a:latin typeface="Montserrat"/>
              </a:rPr>
              <a:t>EGG ONLY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02336"/>
            <a:ext cx="1051560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221F20"/>
                </a:solidFill>
                <a:latin typeface="Montserrat"/>
              </a:rPr>
              <a:t>Egg freezing / preservation — collect &amp; vitrify (no fertilisation)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292840" y="292608"/>
            <a:ext cx="566928" cy="457200"/>
          </a:xfrm>
          <a:prstGeom prst="roundRect">
            <a:avLst/>
          </a:prstGeom>
          <a:solidFill>
            <a:srgbClr val="EA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>
                <a:solidFill>
                  <a:srgbClr val="2F7D76"/>
                </a:solidFill>
                <a:latin typeface="Montserrat"/>
              </a:rPr>
              <a:t>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34440"/>
            <a:ext cx="36576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2F7D76"/>
                </a:solidFill>
                <a:latin typeface="Montserrat"/>
              </a:rPr>
              <a:t>KEY STEPS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600200"/>
            <a:ext cx="1677924" cy="329184"/>
          </a:xfrm>
          <a:prstGeom prst="roundRect">
            <a:avLst/>
          </a:prstGeom>
          <a:solidFill>
            <a:srgbClr val="2F9E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Montserrat"/>
              </a:rPr>
              <a:t>Consent &amp; 3PC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336292" y="1600200"/>
            <a:ext cx="1467612" cy="329184"/>
          </a:xfrm>
          <a:prstGeom prst="roundRect">
            <a:avLst/>
          </a:prstGeom>
          <a:solidFill>
            <a:srgbClr val="2F9E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Montserrat"/>
              </a:rPr>
              <a:t>Stimulation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13632" y="1600200"/>
            <a:ext cx="1677924" cy="329184"/>
          </a:xfrm>
          <a:prstGeom prst="roundRect">
            <a:avLst/>
          </a:prstGeom>
          <a:solidFill>
            <a:srgbClr val="2F9E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Montserrat"/>
              </a:rPr>
              <a:t>Folliculogram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701284" y="1600200"/>
            <a:ext cx="1046988" cy="329184"/>
          </a:xfrm>
          <a:prstGeom prst="roundRect">
            <a:avLst/>
          </a:prstGeom>
          <a:solidFill>
            <a:srgbClr val="2F9E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Montserrat"/>
              </a:rPr>
              <a:t>Trigger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0" y="1600200"/>
            <a:ext cx="868680" cy="329184"/>
          </a:xfrm>
          <a:prstGeom prst="roundRect">
            <a:avLst/>
          </a:prstGeom>
          <a:solidFill>
            <a:srgbClr val="2F9E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Montserrat"/>
              </a:rPr>
              <a:t>OPU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836408" y="1600200"/>
            <a:ext cx="1783080" cy="329184"/>
          </a:xfrm>
          <a:prstGeom prst="roundRect">
            <a:avLst/>
          </a:prstGeom>
          <a:solidFill>
            <a:srgbClr val="2F9E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Montserrat"/>
              </a:rPr>
              <a:t>Denuding / MII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729216" y="1600200"/>
            <a:ext cx="1888236" cy="329184"/>
          </a:xfrm>
          <a:prstGeom prst="roundRect">
            <a:avLst/>
          </a:prstGeom>
          <a:solidFill>
            <a:srgbClr val="2F9E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Montserrat"/>
              </a:rPr>
              <a:t>Vitrify Oocytes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057400"/>
            <a:ext cx="1046988" cy="329184"/>
          </a:xfrm>
          <a:prstGeom prst="roundRect">
            <a:avLst/>
          </a:prstGeom>
          <a:solidFill>
            <a:srgbClr val="2F9E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Montserrat"/>
              </a:rPr>
              <a:t>Storage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2752344"/>
            <a:ext cx="548640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2752344"/>
            <a:ext cx="109728" cy="2103120"/>
          </a:xfrm>
          <a:prstGeom prst="rect">
            <a:avLst/>
          </a:prstGeom>
          <a:solidFill>
            <a:srgbClr val="2F9E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89504"/>
            <a:ext cx="50292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F9E6F"/>
                </a:solidFill>
                <a:latin typeface="Montserrat"/>
              </a:rPr>
              <a:t>SHOW THESE TABS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3319272"/>
            <a:ext cx="5029200" cy="13716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221F20"/>
                </a:solidFill>
                <a:latin typeface="Lato"/>
              </a:rPr>
              <a:t>Overview  ·  Folliculogram  ·  Drugs  ·  Oocyte Retrieval  ·  Gametes  ·  Stored Sample  ·  Checklists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09360" y="2752344"/>
            <a:ext cx="548640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09360" y="2752344"/>
            <a:ext cx="109728" cy="2103120"/>
          </a:xfrm>
          <a:prstGeom prst="rect">
            <a:avLst/>
          </a:prstGeom>
          <a:solidFill>
            <a:srgbClr val="CF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37960" y="2889504"/>
            <a:ext cx="50292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CF4A4A"/>
                </a:solidFill>
                <a:latin typeface="Montserrat"/>
              </a:rPr>
              <a:t>HIDE THESE TABS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37960" y="3319272"/>
            <a:ext cx="5029200" cy="13716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221F20"/>
                </a:solidFill>
                <a:latin typeface="Lato"/>
              </a:rPr>
              <a:t>Embryo Transfer  ·  IUI/DI  ·  Lab Results  ·  Recommendation  ·  Outcome Data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217920"/>
            <a:ext cx="112471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F7D76"/>
                </a:solidFill>
                <a:latin typeface="Lato"/>
              </a:rPr>
              <a:t>Fields:  </a:t>
            </a:r>
            <a:r>
              <a:rPr sz="1200" b="0">
                <a:solidFill>
                  <a:srgbClr val="6C7C7A"/>
                </a:solidFill>
                <a:latin typeface="Lato"/>
              </a:rPr>
              <a:t>Hide partner, sperm source, # embryos to replace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45A5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0584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F7D76"/>
                </a:solidFill>
                <a:latin typeface="Montserrat"/>
              </a:rPr>
              <a:t>EMBRYO TRANSFER (FET)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02336"/>
            <a:ext cx="1051560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221F20"/>
                </a:solidFill>
                <a:latin typeface="Montserrat"/>
              </a:rPr>
              <a:t>Frozen embryo transfer — thaw a stored embryo &amp; transfer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292840" y="292608"/>
            <a:ext cx="566928" cy="457200"/>
          </a:xfrm>
          <a:prstGeom prst="roundRect">
            <a:avLst/>
          </a:prstGeom>
          <a:solidFill>
            <a:srgbClr val="EA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>
                <a:solidFill>
                  <a:srgbClr val="2F7D76"/>
                </a:solidFill>
                <a:latin typeface="Montserrat"/>
              </a:rPr>
              <a:t>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34440"/>
            <a:ext cx="36576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2F7D76"/>
                </a:solidFill>
                <a:latin typeface="Montserrat"/>
              </a:rPr>
              <a:t>KEY STEPS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600200"/>
            <a:ext cx="1677924" cy="329184"/>
          </a:xfrm>
          <a:prstGeom prst="roundRect">
            <a:avLst/>
          </a:prstGeom>
          <a:solidFill>
            <a:srgbClr val="7A5C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Montserrat"/>
              </a:rPr>
              <a:t>Consent &amp; 3PC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336292" y="1600200"/>
            <a:ext cx="2203704" cy="329184"/>
          </a:xfrm>
          <a:prstGeom prst="roundRect">
            <a:avLst/>
          </a:prstGeom>
          <a:solidFill>
            <a:srgbClr val="7A5C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Montserrat"/>
              </a:rPr>
              <a:t>Endo Prep / Lining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49724" y="1600200"/>
            <a:ext cx="1677924" cy="329184"/>
          </a:xfrm>
          <a:prstGeom prst="roundRect">
            <a:avLst/>
          </a:prstGeom>
          <a:solidFill>
            <a:srgbClr val="7A5C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Montserrat"/>
              </a:rPr>
              <a:t>Select Embryo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37376" y="1600200"/>
            <a:ext cx="1467612" cy="329184"/>
          </a:xfrm>
          <a:prstGeom prst="roundRect">
            <a:avLst/>
          </a:prstGeom>
          <a:solidFill>
            <a:srgbClr val="7A5C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Montserrat"/>
              </a:rPr>
              <a:t>Embryo Thaw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14716" y="1600200"/>
            <a:ext cx="868680" cy="329184"/>
          </a:xfrm>
          <a:prstGeom prst="roundRect">
            <a:avLst/>
          </a:prstGeom>
          <a:solidFill>
            <a:srgbClr val="7A5C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Montserrat"/>
              </a:rPr>
              <a:t>3PC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93124" y="1600200"/>
            <a:ext cx="1152144" cy="329184"/>
          </a:xfrm>
          <a:prstGeom prst="roundRect">
            <a:avLst/>
          </a:prstGeom>
          <a:solidFill>
            <a:srgbClr val="7A5C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Montserrat"/>
              </a:rPr>
              <a:t>Transfer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254996" y="1600200"/>
            <a:ext cx="1046988" cy="329184"/>
          </a:xfrm>
          <a:prstGeom prst="roundRect">
            <a:avLst/>
          </a:prstGeom>
          <a:solidFill>
            <a:srgbClr val="7A5C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Montserrat"/>
              </a:rPr>
              <a:t>Outcome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295144"/>
            <a:ext cx="548640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2295144"/>
            <a:ext cx="109728" cy="2103120"/>
          </a:xfrm>
          <a:prstGeom prst="rect">
            <a:avLst/>
          </a:prstGeom>
          <a:solidFill>
            <a:srgbClr val="2F9E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2432304"/>
            <a:ext cx="50292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F9E6F"/>
                </a:solidFill>
                <a:latin typeface="Montserrat"/>
              </a:rPr>
              <a:t>SHOW THESE TABS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5029200" cy="13716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221F20"/>
                </a:solidFill>
                <a:latin typeface="Lato"/>
              </a:rPr>
              <a:t>Overview  ·  Folliculogram  ·  Drugs  ·  Gametes  ·  Stored Sample  ·  Embryo Transfer  ·  Outcome Data  ·  Checklists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09360" y="2295144"/>
            <a:ext cx="548640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309360" y="2295144"/>
            <a:ext cx="109728" cy="2103120"/>
          </a:xfrm>
          <a:prstGeom prst="rect">
            <a:avLst/>
          </a:prstGeom>
          <a:solidFill>
            <a:srgbClr val="CF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37960" y="2432304"/>
            <a:ext cx="50292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CF4A4A"/>
                </a:solidFill>
                <a:latin typeface="Montserrat"/>
              </a:rPr>
              <a:t>HIDE THESE TABS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37960" y="2862072"/>
            <a:ext cx="5029200" cy="13716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221F20"/>
                </a:solidFill>
                <a:latin typeface="Lato"/>
              </a:rPr>
              <a:t>Oocyte Retrieval  ·  IUI/DI  ·  Lab Results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217920"/>
            <a:ext cx="112471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F7D76"/>
                </a:solidFill>
                <a:latin typeface="Lato"/>
              </a:rPr>
              <a:t>Fields:  </a:t>
            </a:r>
            <a:r>
              <a:rPr sz="1200" b="0">
                <a:solidFill>
                  <a:srgbClr val="6C7C7A"/>
                </a:solidFill>
                <a:latin typeface="Lato"/>
              </a:rPr>
              <a:t>Show # embryos to replace; hide sperm source &amp; egg-collection fields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45A5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0584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F7D76"/>
                </a:solidFill>
                <a:latin typeface="Montserrat"/>
              </a:rPr>
              <a:t>VOT  (VITRIFIED OOCYTE THAW — CONFIRM)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02336"/>
            <a:ext cx="1051560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221F20"/>
                </a:solidFill>
                <a:latin typeface="Montserrat"/>
              </a:rPr>
              <a:t>Thaw frozen eggs — ICSI — culture — transfer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292840" y="292608"/>
            <a:ext cx="566928" cy="457200"/>
          </a:xfrm>
          <a:prstGeom prst="roundRect">
            <a:avLst/>
          </a:prstGeom>
          <a:solidFill>
            <a:srgbClr val="EA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>
                <a:solidFill>
                  <a:srgbClr val="2F7D76"/>
                </a:solidFill>
                <a:latin typeface="Montserrat"/>
              </a:rPr>
              <a:t>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34440"/>
            <a:ext cx="36576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2F7D76"/>
                </a:solidFill>
                <a:latin typeface="Montserrat"/>
              </a:rPr>
              <a:t>KEY STEPS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600200"/>
            <a:ext cx="1677924" cy="329184"/>
          </a:xfrm>
          <a:prstGeom prst="roundRect">
            <a:avLst/>
          </a:prstGeom>
          <a:solidFill>
            <a:srgbClr val="C98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Montserrat"/>
              </a:rPr>
              <a:t>Consent &amp; 3PC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336292" y="1600200"/>
            <a:ext cx="2203704" cy="329184"/>
          </a:xfrm>
          <a:prstGeom prst="roundRect">
            <a:avLst/>
          </a:prstGeom>
          <a:solidFill>
            <a:srgbClr val="C98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Montserrat"/>
              </a:rPr>
              <a:t>Select Frozen Eggs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49724" y="1600200"/>
            <a:ext cx="1467612" cy="329184"/>
          </a:xfrm>
          <a:prstGeom prst="roundRect">
            <a:avLst/>
          </a:prstGeom>
          <a:solidFill>
            <a:srgbClr val="C98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Montserrat"/>
              </a:rPr>
              <a:t>Oocyte Thaw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27064" y="1600200"/>
            <a:ext cx="1152144" cy="329184"/>
          </a:xfrm>
          <a:prstGeom prst="roundRect">
            <a:avLst/>
          </a:prstGeom>
          <a:solidFill>
            <a:srgbClr val="C98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Montserrat"/>
              </a:rPr>
              <a:t>Survival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88936" y="1600200"/>
            <a:ext cx="1362456" cy="329184"/>
          </a:xfrm>
          <a:prstGeom prst="roundRect">
            <a:avLst/>
          </a:prstGeom>
          <a:solidFill>
            <a:srgbClr val="C98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Montserrat"/>
              </a:rPr>
              <a:t>Semen Prep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61120" y="1600200"/>
            <a:ext cx="868680" cy="329184"/>
          </a:xfrm>
          <a:prstGeom prst="roundRect">
            <a:avLst/>
          </a:prstGeom>
          <a:solidFill>
            <a:srgbClr val="C98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Montserrat"/>
              </a:rPr>
              <a:t>ICSI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939528" y="1600200"/>
            <a:ext cx="1677924" cy="329184"/>
          </a:xfrm>
          <a:prstGeom prst="roundRect">
            <a:avLst/>
          </a:prstGeom>
          <a:solidFill>
            <a:srgbClr val="C98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Montserrat"/>
              </a:rPr>
              <a:t>Fertilisation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057400"/>
            <a:ext cx="1046988" cy="329184"/>
          </a:xfrm>
          <a:prstGeom prst="roundRect">
            <a:avLst/>
          </a:prstGeom>
          <a:solidFill>
            <a:srgbClr val="C98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Montserrat"/>
              </a:rPr>
              <a:t>Culture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705356" y="2057400"/>
            <a:ext cx="2098548" cy="329184"/>
          </a:xfrm>
          <a:prstGeom prst="roundRect">
            <a:avLst/>
          </a:prstGeom>
          <a:solidFill>
            <a:srgbClr val="C98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Montserrat"/>
              </a:rPr>
              <a:t>Transfer / Freeze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913632" y="2057400"/>
            <a:ext cx="1046988" cy="329184"/>
          </a:xfrm>
          <a:prstGeom prst="roundRect">
            <a:avLst/>
          </a:prstGeom>
          <a:solidFill>
            <a:srgbClr val="C98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Montserrat"/>
              </a:rPr>
              <a:t>Outcome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2752344"/>
            <a:ext cx="548640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2752344"/>
            <a:ext cx="109728" cy="2103120"/>
          </a:xfrm>
          <a:prstGeom prst="rect">
            <a:avLst/>
          </a:prstGeom>
          <a:solidFill>
            <a:srgbClr val="2F9E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2889504"/>
            <a:ext cx="50292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F9E6F"/>
                </a:solidFill>
                <a:latin typeface="Montserrat"/>
              </a:rPr>
              <a:t>SHOW THESE TABS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3319272"/>
            <a:ext cx="5029200" cy="13716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221F20"/>
                </a:solidFill>
                <a:latin typeface="Lato"/>
              </a:rPr>
              <a:t>Overview  ·  Gametes  ·  Stored Sample  ·  Lab Results  ·  Embryo Transfer  ·  Drugs  ·  Outcome Data  ·  Checklists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09360" y="2752344"/>
            <a:ext cx="548640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309360" y="2752344"/>
            <a:ext cx="109728" cy="2103120"/>
          </a:xfrm>
          <a:prstGeom prst="rect">
            <a:avLst/>
          </a:prstGeom>
          <a:solidFill>
            <a:srgbClr val="CF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60" y="2889504"/>
            <a:ext cx="50292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CF4A4A"/>
                </a:solidFill>
                <a:latin typeface="Montserrat"/>
              </a:rPr>
              <a:t>HIDE THESE TABS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37960" y="3319272"/>
            <a:ext cx="5029200" cy="13716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221F20"/>
                </a:solidFill>
                <a:latin typeface="Lato"/>
              </a:rPr>
              <a:t>Oocyte Retrieval  ·  Folliculogram  ·  IUI/DI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217920"/>
            <a:ext cx="112471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F7D76"/>
                </a:solidFill>
                <a:latin typeface="Lato"/>
              </a:rPr>
              <a:t>Fields:  </a:t>
            </a:r>
            <a:r>
              <a:rPr sz="1200" b="0">
                <a:solidFill>
                  <a:srgbClr val="6C7C7A"/>
                </a:solidFill>
                <a:latin typeface="Lato"/>
              </a:rPr>
              <a:t>Confirm the acronym with MIVF / SME before wiring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45A5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0584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F7D76"/>
                </a:solidFill>
                <a:latin typeface="Montserrat"/>
              </a:rPr>
              <a:t>IUI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02336"/>
            <a:ext cx="1051560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221F20"/>
                </a:solidFill>
                <a:latin typeface="Montserrat"/>
              </a:rPr>
              <a:t>Intrauterine insemination — prepared sperm into uterus (no egg collection)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292840" y="292608"/>
            <a:ext cx="566928" cy="457200"/>
          </a:xfrm>
          <a:prstGeom prst="roundRect">
            <a:avLst/>
          </a:prstGeom>
          <a:solidFill>
            <a:srgbClr val="EA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>
                <a:solidFill>
                  <a:srgbClr val="2F7D76"/>
                </a:solidFill>
                <a:latin typeface="Montserrat"/>
              </a:rPr>
              <a:t>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34440"/>
            <a:ext cx="36576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2F7D76"/>
                </a:solidFill>
                <a:latin typeface="Montserrat"/>
              </a:rPr>
              <a:t>KEY STEPS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600200"/>
            <a:ext cx="1677924" cy="329184"/>
          </a:xfrm>
          <a:prstGeom prst="roundRect">
            <a:avLst/>
          </a:prstGeom>
          <a:solidFill>
            <a:srgbClr val="45A5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Montserrat"/>
              </a:rPr>
              <a:t>Consent &amp; 3PC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336292" y="1600200"/>
            <a:ext cx="1572768" cy="329184"/>
          </a:xfrm>
          <a:prstGeom prst="roundRect">
            <a:avLst/>
          </a:prstGeom>
          <a:solidFill>
            <a:srgbClr val="45A5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Montserrat"/>
              </a:rPr>
              <a:t>OI / Natural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018788" y="1600200"/>
            <a:ext cx="1677924" cy="329184"/>
          </a:xfrm>
          <a:prstGeom prst="roundRect">
            <a:avLst/>
          </a:prstGeom>
          <a:solidFill>
            <a:srgbClr val="45A5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Montserrat"/>
              </a:rPr>
              <a:t>Folliculogram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806440" y="1600200"/>
            <a:ext cx="1046988" cy="329184"/>
          </a:xfrm>
          <a:prstGeom prst="roundRect">
            <a:avLst/>
          </a:prstGeom>
          <a:solidFill>
            <a:srgbClr val="45A5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Montserrat"/>
              </a:rPr>
              <a:t>Trigger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963156" y="1600200"/>
            <a:ext cx="1362456" cy="329184"/>
          </a:xfrm>
          <a:prstGeom prst="roundRect">
            <a:avLst/>
          </a:prstGeom>
          <a:solidFill>
            <a:srgbClr val="45A5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Montserrat"/>
              </a:rPr>
              <a:t>Semen Prep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35340" y="1600200"/>
            <a:ext cx="1993392" cy="329184"/>
          </a:xfrm>
          <a:prstGeom prst="roundRect">
            <a:avLst/>
          </a:prstGeom>
          <a:solidFill>
            <a:srgbClr val="45A5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Montserrat"/>
              </a:rPr>
              <a:t>IUI Insemination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538460" y="1600200"/>
            <a:ext cx="1046988" cy="329184"/>
          </a:xfrm>
          <a:prstGeom prst="roundRect">
            <a:avLst/>
          </a:prstGeom>
          <a:solidFill>
            <a:srgbClr val="45A5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Montserrat"/>
              </a:rPr>
              <a:t>Outcome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295144"/>
            <a:ext cx="548640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2295144"/>
            <a:ext cx="109728" cy="2103120"/>
          </a:xfrm>
          <a:prstGeom prst="rect">
            <a:avLst/>
          </a:prstGeom>
          <a:solidFill>
            <a:srgbClr val="2F9E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2432304"/>
            <a:ext cx="50292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F9E6F"/>
                </a:solidFill>
                <a:latin typeface="Montserrat"/>
              </a:rPr>
              <a:t>SHOW THESE TABS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5029200" cy="13716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221F20"/>
                </a:solidFill>
                <a:latin typeface="Lato"/>
              </a:rPr>
              <a:t>Overview  ·  Folliculogram  ·  Drugs  ·  IUI/DI  ·  Gametes  ·  Outcome Data  ·  Checklists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09360" y="2295144"/>
            <a:ext cx="548640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309360" y="2295144"/>
            <a:ext cx="109728" cy="2103120"/>
          </a:xfrm>
          <a:prstGeom prst="rect">
            <a:avLst/>
          </a:prstGeom>
          <a:solidFill>
            <a:srgbClr val="CF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37960" y="2432304"/>
            <a:ext cx="50292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CF4A4A"/>
                </a:solidFill>
                <a:latin typeface="Montserrat"/>
              </a:rPr>
              <a:t>HIDE THESE TABS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37960" y="2862072"/>
            <a:ext cx="5029200" cy="13716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221F20"/>
                </a:solidFill>
                <a:latin typeface="Lato"/>
              </a:rPr>
              <a:t>Oocyte Retrieval  ·  Embryo Transfer  ·  Lab Results  ·  Stored Sample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217920"/>
            <a:ext cx="112471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F7D76"/>
                </a:solidFill>
                <a:latin typeface="Lato"/>
              </a:rPr>
              <a:t>Fields:  </a:t>
            </a:r>
            <a:r>
              <a:rPr sz="1200" b="0">
                <a:solidFill>
                  <a:srgbClr val="6C7C7A"/>
                </a:solidFill>
                <a:latin typeface="Lato"/>
              </a:rPr>
              <a:t>Show partner &amp; sperm source; hide # embryos to replace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45A5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0584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F7D76"/>
                </a:solidFill>
                <a:latin typeface="Montserrat"/>
              </a:rPr>
              <a:t>OVULATION INDUCTION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02336"/>
            <a:ext cx="1051560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221F20"/>
                </a:solidFill>
                <a:latin typeface="Montserrat"/>
              </a:rPr>
              <a:t>Drug-induced ovulation + timed intercourse (monitoring only)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292840" y="292608"/>
            <a:ext cx="566928" cy="457200"/>
          </a:xfrm>
          <a:prstGeom prst="roundRect">
            <a:avLst/>
          </a:prstGeom>
          <a:solidFill>
            <a:srgbClr val="EA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>
                <a:solidFill>
                  <a:srgbClr val="2F7D76"/>
                </a:solidFill>
                <a:latin typeface="Montserrat"/>
              </a:rPr>
              <a:t>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34440"/>
            <a:ext cx="36576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2F7D76"/>
                </a:solidFill>
                <a:latin typeface="Montserrat"/>
              </a:rPr>
              <a:t>KEY STEPS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600200"/>
            <a:ext cx="1046988" cy="329184"/>
          </a:xfrm>
          <a:prstGeom prst="roundRect">
            <a:avLst/>
          </a:prstGeom>
          <a:solidFill>
            <a:srgbClr val="6C7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Montserrat"/>
              </a:rPr>
              <a:t>Consent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705356" y="1600200"/>
            <a:ext cx="1152144" cy="329184"/>
          </a:xfrm>
          <a:prstGeom prst="roundRect">
            <a:avLst/>
          </a:prstGeom>
          <a:solidFill>
            <a:srgbClr val="6C7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Montserrat"/>
              </a:rPr>
              <a:t>OI Drugs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67228" y="1600200"/>
            <a:ext cx="1677924" cy="329184"/>
          </a:xfrm>
          <a:prstGeom prst="roundRect">
            <a:avLst/>
          </a:prstGeom>
          <a:solidFill>
            <a:srgbClr val="6C7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Montserrat"/>
              </a:rPr>
              <a:t>Folliculogram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0" y="1600200"/>
            <a:ext cx="1046988" cy="329184"/>
          </a:xfrm>
          <a:prstGeom prst="roundRect">
            <a:avLst/>
          </a:prstGeom>
          <a:solidFill>
            <a:srgbClr val="6C7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Montserrat"/>
              </a:rPr>
              <a:t>Trigger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11596" y="1600200"/>
            <a:ext cx="2098548" cy="329184"/>
          </a:xfrm>
          <a:prstGeom prst="roundRect">
            <a:avLst/>
          </a:prstGeom>
          <a:solidFill>
            <a:srgbClr val="6C7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Montserrat"/>
              </a:rPr>
              <a:t>Timed Intercourse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19872" y="1600200"/>
            <a:ext cx="1046988" cy="329184"/>
          </a:xfrm>
          <a:prstGeom prst="roundRect">
            <a:avLst/>
          </a:prstGeom>
          <a:solidFill>
            <a:srgbClr val="6C7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Montserrat"/>
              </a:rPr>
              <a:t>Outcome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295144"/>
            <a:ext cx="548640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2295144"/>
            <a:ext cx="109728" cy="2103120"/>
          </a:xfrm>
          <a:prstGeom prst="rect">
            <a:avLst/>
          </a:prstGeom>
          <a:solidFill>
            <a:srgbClr val="2F9E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2432304"/>
            <a:ext cx="50292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F9E6F"/>
                </a:solidFill>
                <a:latin typeface="Montserrat"/>
              </a:rPr>
              <a:t>SHOW THESE TABS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2862072"/>
            <a:ext cx="5029200" cy="13716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221F20"/>
                </a:solidFill>
                <a:latin typeface="Lato"/>
              </a:rPr>
              <a:t>Overview  ·  Drugs  ·  Folliculogram  ·  Outcome Data  ·  Checklists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2295144"/>
            <a:ext cx="548640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09360" y="2295144"/>
            <a:ext cx="109728" cy="2103120"/>
          </a:xfrm>
          <a:prstGeom prst="rect">
            <a:avLst/>
          </a:prstGeom>
          <a:solidFill>
            <a:srgbClr val="CF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37960" y="2432304"/>
            <a:ext cx="50292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CF4A4A"/>
                </a:solidFill>
                <a:latin typeface="Montserrat"/>
              </a:rPr>
              <a:t>HIDE THESE TABS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37960" y="2862072"/>
            <a:ext cx="5029200" cy="13716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221F20"/>
                </a:solidFill>
                <a:latin typeface="Lato"/>
              </a:rPr>
              <a:t>Oocyte Retrieval  ·  Embryo Transfer  ·  IUI/DI  ·  Gametes  ·  Lab Results  ·  Stored Sample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217920"/>
            <a:ext cx="112471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F7D76"/>
                </a:solidFill>
                <a:latin typeface="Lato"/>
              </a:rPr>
              <a:t>Fields:  </a:t>
            </a:r>
            <a:r>
              <a:rPr sz="1200" b="0">
                <a:solidFill>
                  <a:srgbClr val="6C7C7A"/>
                </a:solidFill>
                <a:latin typeface="Lato"/>
              </a:rPr>
              <a:t>Mostly monitoring; hide embryo / sperm fields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45A5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0584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F7D76"/>
                </a:solidFill>
                <a:latin typeface="Montserrat"/>
              </a:rPr>
              <a:t>TRACKING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02336"/>
            <a:ext cx="1051560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221F20"/>
                </a:solidFill>
                <a:latin typeface="Montserrat"/>
              </a:rPr>
              <a:t>Cycle monitoring / scan tracking only (no procedure)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292840" y="292608"/>
            <a:ext cx="566928" cy="457200"/>
          </a:xfrm>
          <a:prstGeom prst="roundRect">
            <a:avLst/>
          </a:prstGeom>
          <a:solidFill>
            <a:srgbClr val="EA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>
                <a:solidFill>
                  <a:srgbClr val="2F7D76"/>
                </a:solidFill>
                <a:latin typeface="Montserrat"/>
              </a:rPr>
              <a:t>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34440"/>
            <a:ext cx="36576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2F7D76"/>
                </a:solidFill>
                <a:latin typeface="Montserrat"/>
              </a:rPr>
              <a:t>KEY STEPS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600200"/>
            <a:ext cx="2624328" cy="329184"/>
          </a:xfrm>
          <a:prstGeom prst="roundRect">
            <a:avLst/>
          </a:prstGeom>
          <a:solidFill>
            <a:srgbClr val="221F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Montserrat"/>
              </a:rPr>
              <a:t>Folliculogram Tracking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82696" y="1600200"/>
            <a:ext cx="2729484" cy="329184"/>
          </a:xfrm>
          <a:prstGeom prst="roundRect">
            <a:avLst/>
          </a:prstGeom>
          <a:solidFill>
            <a:srgbClr val="221F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Montserrat"/>
              </a:rPr>
              <a:t>LH &amp; Trigger Monitoring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1908" y="1600200"/>
            <a:ext cx="2203704" cy="329184"/>
          </a:xfrm>
          <a:prstGeom prst="roundRect">
            <a:avLst/>
          </a:prstGeom>
          <a:solidFill>
            <a:srgbClr val="221F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Montserrat"/>
              </a:rPr>
              <a:t>Outcome / Hand-off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295144"/>
            <a:ext cx="548640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2295144"/>
            <a:ext cx="109728" cy="2103120"/>
          </a:xfrm>
          <a:prstGeom prst="rect">
            <a:avLst/>
          </a:prstGeom>
          <a:solidFill>
            <a:srgbClr val="2F9E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432304"/>
            <a:ext cx="50292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F9E6F"/>
                </a:solidFill>
                <a:latin typeface="Montserrat"/>
              </a:rPr>
              <a:t>SHOW THESE TABS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862072"/>
            <a:ext cx="5029200" cy="13716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221F20"/>
                </a:solidFill>
                <a:latin typeface="Lato"/>
              </a:rPr>
              <a:t>Overview  ·  Folliculogram  ·  Outcome Data  ·  Drugs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2295144"/>
            <a:ext cx="548640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9360" y="2295144"/>
            <a:ext cx="109728" cy="2103120"/>
          </a:xfrm>
          <a:prstGeom prst="rect">
            <a:avLst/>
          </a:prstGeom>
          <a:solidFill>
            <a:srgbClr val="CF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7960" y="2432304"/>
            <a:ext cx="50292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CF4A4A"/>
                </a:solidFill>
                <a:latin typeface="Montserrat"/>
              </a:rPr>
              <a:t>HIDE THESE TABS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60" y="2862072"/>
            <a:ext cx="5029200" cy="13716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221F20"/>
                </a:solidFill>
                <a:latin typeface="Lato"/>
              </a:rPr>
              <a:t>Oocyte Retrieval  ·  Embryo Transfer  ·  IUI/DI  ·  Gametes  ·  Lab Results  ·  Stored Sample  ·  Recommendation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217920"/>
            <a:ext cx="112471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F7D76"/>
                </a:solidFill>
                <a:latin typeface="Lato"/>
              </a:rPr>
              <a:t>Fields:  </a:t>
            </a:r>
            <a:r>
              <a:rPr sz="1200" b="0">
                <a:solidFill>
                  <a:srgbClr val="6C7C7A"/>
                </a:solidFill>
                <a:latin typeface="Lato"/>
              </a:rPr>
              <a:t>Doctor, nurse, period dates only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45A5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0584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F7D76"/>
                </a:solidFill>
                <a:latin typeface="Montserrat"/>
              </a:rPr>
              <a:t>THAW AND REFREEZE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02336"/>
            <a:ext cx="1051560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221F20"/>
                </a:solidFill>
                <a:latin typeface="Montserrat"/>
              </a:rPr>
              <a:t>Thaw a stored specimen — (± biopsy) — refreeze — storage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292840" y="292608"/>
            <a:ext cx="566928" cy="457200"/>
          </a:xfrm>
          <a:prstGeom prst="roundRect">
            <a:avLst/>
          </a:prstGeom>
          <a:solidFill>
            <a:srgbClr val="EA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>
                <a:solidFill>
                  <a:srgbClr val="2F7D76"/>
                </a:solidFill>
                <a:latin typeface="Montserrat"/>
              </a:rPr>
              <a:t>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34440"/>
            <a:ext cx="36576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2F7D76"/>
                </a:solidFill>
                <a:latin typeface="Montserrat"/>
              </a:rPr>
              <a:t>KEY STEPS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600200"/>
            <a:ext cx="1677924" cy="329184"/>
          </a:xfrm>
          <a:prstGeom prst="roundRect">
            <a:avLst/>
          </a:prstGeom>
          <a:solidFill>
            <a:srgbClr val="CF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Montserrat"/>
              </a:rPr>
              <a:t>Consent &amp; 3PC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336292" y="1600200"/>
            <a:ext cx="1888236" cy="329184"/>
          </a:xfrm>
          <a:prstGeom prst="roundRect">
            <a:avLst/>
          </a:prstGeom>
          <a:solidFill>
            <a:srgbClr val="CF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Montserrat"/>
              </a:rPr>
              <a:t>Select Specimen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4256" y="1600200"/>
            <a:ext cx="868680" cy="329184"/>
          </a:xfrm>
          <a:prstGeom prst="roundRect">
            <a:avLst/>
          </a:prstGeom>
          <a:solidFill>
            <a:srgbClr val="CF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Montserrat"/>
              </a:rPr>
              <a:t>Thaw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12664" y="1600200"/>
            <a:ext cx="2098548" cy="329184"/>
          </a:xfrm>
          <a:prstGeom prst="roundRect">
            <a:avLst/>
          </a:prstGeom>
          <a:solidFill>
            <a:srgbClr val="CF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Montserrat"/>
              </a:rPr>
              <a:t>Assess (± Biopsy)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20940" y="1600200"/>
            <a:ext cx="1152144" cy="329184"/>
          </a:xfrm>
          <a:prstGeom prst="roundRect">
            <a:avLst/>
          </a:prstGeom>
          <a:solidFill>
            <a:srgbClr val="CF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Montserrat"/>
              </a:rPr>
              <a:t>Refreeze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782812" y="1600200"/>
            <a:ext cx="1046988" cy="329184"/>
          </a:xfrm>
          <a:prstGeom prst="roundRect">
            <a:avLst/>
          </a:prstGeom>
          <a:solidFill>
            <a:srgbClr val="CF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Montserrat"/>
              </a:rPr>
              <a:t>Storage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939528" y="1600200"/>
            <a:ext cx="1362456" cy="329184"/>
          </a:xfrm>
          <a:prstGeom prst="roundRect">
            <a:avLst/>
          </a:prstGeom>
          <a:solidFill>
            <a:srgbClr val="CF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Montserrat"/>
              </a:rPr>
              <a:t>Witnessing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295144"/>
            <a:ext cx="548640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2295144"/>
            <a:ext cx="109728" cy="2103120"/>
          </a:xfrm>
          <a:prstGeom prst="rect">
            <a:avLst/>
          </a:prstGeom>
          <a:solidFill>
            <a:srgbClr val="2F9E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2432304"/>
            <a:ext cx="50292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F9E6F"/>
                </a:solidFill>
                <a:latin typeface="Montserrat"/>
              </a:rPr>
              <a:t>SHOW THESE TABS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5029200" cy="13716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221F20"/>
                </a:solidFill>
                <a:latin typeface="Lato"/>
              </a:rPr>
              <a:t>Overview  ·  Gametes  ·  Stored Sample  ·  Checklists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09360" y="2295144"/>
            <a:ext cx="548640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309360" y="2295144"/>
            <a:ext cx="109728" cy="2103120"/>
          </a:xfrm>
          <a:prstGeom prst="rect">
            <a:avLst/>
          </a:prstGeom>
          <a:solidFill>
            <a:srgbClr val="CF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37960" y="2432304"/>
            <a:ext cx="50292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CF4A4A"/>
                </a:solidFill>
                <a:latin typeface="Montserrat"/>
              </a:rPr>
              <a:t>HIDE THESE TABS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37960" y="2862072"/>
            <a:ext cx="5029200" cy="13716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221F20"/>
                </a:solidFill>
                <a:latin typeface="Lato"/>
              </a:rPr>
              <a:t>Folliculogram  ·  Drugs  ·  Oocyte Retrieval  ·  Embryo Transfer  ·  IUI/DI  ·  Lab Results  ·  Outcome Data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217920"/>
            <a:ext cx="112471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F7D76"/>
                </a:solidFill>
                <a:latin typeface="Lato"/>
              </a:rPr>
              <a:t>Fields:  </a:t>
            </a:r>
            <a:r>
              <a:rPr sz="1200" b="0">
                <a:solidFill>
                  <a:srgbClr val="6C7C7A"/>
                </a:solidFill>
                <a:latin typeface="Lato"/>
              </a:rPr>
              <a:t>Storage location &amp; consent; hide clinical / stimulation fields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