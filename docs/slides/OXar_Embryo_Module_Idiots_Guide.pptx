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Montserrat"/>
              </a:rPr>
              <a:t>OX</a:t>
            </a:r>
            <a:r>
              <a:rPr sz="5400" b="1">
                <a:solidFill>
                  <a:srgbClr val="45A59D"/>
                </a:solidFill>
                <a:latin typeface="Montserrat"/>
              </a:rPr>
              <a:t>.</a:t>
            </a:r>
            <a:r>
              <a:rPr sz="5400" b="1">
                <a:solidFill>
                  <a:srgbClr val="FFFFFF"/>
                </a:solidFill>
                <a:latin typeface="Montserrat"/>
              </a:rPr>
              <a:t>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100584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CFE6E2"/>
                </a:solidFill>
                <a:latin typeface="Lato"/>
              </a:rPr>
              <a:t>The Idiot's Guide to Building the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ontserrat"/>
              </a:rPr>
              <a:t>Embryo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89120"/>
            <a:ext cx="1060704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CFE6E2"/>
                </a:solidFill>
                <a:latin typeface="Lato"/>
              </a:rPr>
              <a:t>A dead-simple, step-by-step plan for OX.assisted reproduction (OX.ar)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45A59D"/>
                </a:solidFill>
                <a:latin typeface="Montserrat"/>
              </a:rPr>
              <a:t>Module M-18  ·  Embryology Cycle Management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6C7C7A"/>
                </a:solidFill>
                <a:latin typeface="Consolas"/>
              </a:rPr>
              <a:t>Repos: OxArFrontendReact (React)  +  OxArBackendReact (.NET Web API + Dataverse)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989320"/>
            <a:ext cx="3383280" cy="457200"/>
          </a:xfrm>
          <a:prstGeom prst="round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100% SEPARATE FROM OX.gp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What are we building, in plain English?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21F20"/>
                </a:solidFill>
                <a:latin typeface="Lato"/>
              </a:rPr>
              <a:t>It's the </a:t>
            </a:r>
            <a:r>
              <a:rPr sz="1600" b="1">
                <a:solidFill>
                  <a:srgbClr val="2F7D76"/>
                </a:solidFill>
                <a:latin typeface="Lato"/>
              </a:rPr>
              <a:t>lab workspace embryologists and clinicians use</a:t>
            </a:r>
            <a:r>
              <a:rPr sz="1600" b="0">
                <a:solidFill>
                  <a:srgbClr val="221F20"/>
                </a:solidFill>
                <a:latin typeface="Lato"/>
              </a:rPr>
              <a:t> to run an IVF cycle: plan the day's events, record each procedure, grade embryos day by day, manage frozen storage, and keep the safety/witnessing record the law requires.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2697480" cy="109728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063240"/>
            <a:ext cx="1188720" cy="457200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214884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1F20"/>
                </a:solidFill>
                <a:latin typeface="Lato"/>
              </a:rPr>
              <a:t>Worklist, cycle overview, consent &amp; 3-point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74320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743200"/>
            <a:ext cx="2697480" cy="109728"/>
          </a:xfrm>
          <a:prstGeom prst="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3063240"/>
            <a:ext cx="1188720" cy="457200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03320"/>
            <a:ext cx="214884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1F20"/>
                </a:solidFill>
                <a:latin typeface="Lato"/>
              </a:rPr>
              <a:t>Egg collection, semen prep, insemination, fertilisation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743200"/>
            <a:ext cx="2697480" cy="109728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3063240"/>
            <a:ext cx="1188720" cy="457200"/>
          </a:xfrm>
          <a:prstGeom prst="round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GROW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214884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1F20"/>
                </a:solidFill>
                <a:latin typeface="Lato"/>
              </a:rPr>
              <a:t>Day 0-7 embryo grading, then transfer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74320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743200"/>
            <a:ext cx="2697480" cy="109728"/>
          </a:xfrm>
          <a:prstGeom prst="rect">
            <a:avLst/>
          </a:prstGeom>
          <a:solidFill>
            <a:srgbClr val="7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0" y="3063240"/>
            <a:ext cx="1188720" cy="457200"/>
          </a:xfrm>
          <a:prstGeom prst="roundRect">
            <a:avLst/>
          </a:prstGeom>
          <a:solidFill>
            <a:srgbClr val="7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703320"/>
            <a:ext cx="214884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1F20"/>
                </a:solidFill>
                <a:latin typeface="Lato"/>
              </a:rPr>
              <a:t>Freeze / thaw, biopsy, cryo tanks &amp; inventory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C7C7A"/>
                </a:solidFill>
                <a:latin typeface="Lato"/>
              </a:rPr>
              <a:t>The spec = 41 requirements (M18-000 … M18-040 + 1 new) across 23 data sheets. This deck tells you how to build it against the REAL OX.ar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READ TWICE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3 golden rules before you touch anything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310896" cy="310896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36192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21F20"/>
                </a:solidFill>
                <a:latin typeface="Lato"/>
              </a:rPr>
              <a:t>Never mix with OX.gp.</a:t>
            </a:r>
            <a:r>
              <a:rPr sz="1700" b="0">
                <a:solidFill>
                  <a:srgbClr val="6C7C7A"/>
                </a:solidFill>
                <a:latin typeface="Lato"/>
              </a:rPr>
              <a:t> No shared code, entities, endpoints, assets or contracts. Only the two OX.ar repos + the OX.ar Dataverse org. If a task seems to need OX.gp — STOP.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07208"/>
            <a:ext cx="310896" cy="310896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70632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21F20"/>
                </a:solidFill>
                <a:latin typeface="Lato"/>
              </a:rPr>
              <a:t>Don't rebuild what exists.</a:t>
            </a:r>
            <a:r>
              <a:rPr sz="1700" b="0">
                <a:solidFill>
                  <a:srgbClr val="6C7C7A"/>
                </a:solidFill>
                <a:latin typeface="Lato"/>
              </a:rPr>
              <a:t> Dataverse already has bcrm_egg (the specimen) and bcrm_eggdetail (its day-by-day assessments). Reuse them. Add only the 15 missing workflow 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41648"/>
            <a:ext cx="310896" cy="310896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05072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21F20"/>
                </a:solidFill>
                <a:latin typeface="Lato"/>
              </a:rPr>
              <a:t>Witnessing is not optional.</a:t>
            </a:r>
            <a:r>
              <a:rPr sz="1700" b="0">
                <a:solidFill>
                  <a:srgbClr val="6C7C7A"/>
                </a:solidFill>
                <a:latin typeface="Lato"/>
              </a:rPr>
              <a:t> Every critical step needs an independent second person. The app must BLOCK a procedure until a 3-point check passes. This is the law (HFEA).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806440"/>
            <a:ext cx="10881360" cy="566928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F7D76"/>
                </a:solidFill>
                <a:latin typeface="Montserrat"/>
              </a:rPr>
              <a:t>One specimen identity per egg/embryo, cradle to grave = safe traceability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THE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How the pieces fit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554480"/>
            <a:ext cx="92354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1554480"/>
            <a:ext cx="146304" cy="105156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83080" y="1847088"/>
            <a:ext cx="2651760" cy="457200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REACT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719072"/>
            <a:ext cx="5852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1F20"/>
                </a:solidFill>
                <a:latin typeface="Lato"/>
              </a:rPr>
              <a:t>OxArFrontendReact  ·  a new /lab area (screens for the lab team)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06440" y="2615184"/>
            <a:ext cx="502920" cy="292608"/>
          </a:xfrm>
          <a:prstGeom prst="downArrow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3040" y="3044952"/>
            <a:ext cx="92354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3044952"/>
            <a:ext cx="146304" cy="1051560"/>
          </a:xfrm>
          <a:prstGeom prst="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83080" y="3337560"/>
            <a:ext cx="2651760" cy="457200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.NET WEB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09544"/>
            <a:ext cx="5852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1F20"/>
                </a:solidFill>
                <a:latin typeface="Lato"/>
              </a:rPr>
              <a:t>OxArBackendReact  ·  Controller → Service → CRMCoreRepository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806440" y="4105656"/>
            <a:ext cx="502920" cy="292608"/>
          </a:xfrm>
          <a:prstGeom prst="downArrow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63040" y="4535424"/>
            <a:ext cx="92354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0" y="4535424"/>
            <a:ext cx="146304" cy="1051560"/>
          </a:xfrm>
          <a:prstGeom prst="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783080" y="4828032"/>
            <a:ext cx="2651760" cy="457200"/>
          </a:xfrm>
          <a:prstGeom prst="round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DATAVERSE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700016"/>
            <a:ext cx="58521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1F20"/>
                </a:solidFill>
                <a:latin typeface="Lato"/>
              </a:rPr>
              <a:t>contact · bcrm_treatment_cycle · bcrm_egg · bcrm_eggdetail · +15 new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6126480"/>
            <a:ext cx="91440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C7C7A"/>
                </a:solidFill>
                <a:latin typeface="Lato"/>
              </a:rPr>
              <a:t>Auth already exists: MSAL Azure AD B2C + the hmacauth token. Reuse it — build no new login.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THE RHYTHM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The order you build EVERY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16916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1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377440"/>
            <a:ext cx="502920" cy="502920"/>
          </a:xfrm>
          <a:prstGeom prst="round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1508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1F20"/>
                </a:solidFill>
                <a:latin typeface="Montserrat"/>
              </a:rPr>
              <a:t>Dataverse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1F20"/>
                </a:solidFill>
                <a:latin typeface="Montserrat"/>
              </a:rPr>
              <a:t>table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03704" y="2852928"/>
            <a:ext cx="146304" cy="237744"/>
          </a:xfrm>
          <a:prstGeom prst="rightArrow">
            <a:avLst/>
          </a:prstGeom>
          <a:solidFill>
            <a:srgbClr val="6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59152" y="2194560"/>
            <a:ext cx="16916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7D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53512" y="2377440"/>
            <a:ext cx="502920" cy="502920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" y="2971800"/>
            <a:ext cx="1508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1F20"/>
                </a:solidFill>
                <a:latin typeface="Montserrat"/>
              </a:rPr>
              <a:t>API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1F20"/>
                </a:solidFill>
                <a:latin typeface="Montserrat"/>
              </a:rPr>
              <a:t>endpoint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59936" y="2852928"/>
            <a:ext cx="146304" cy="237744"/>
          </a:xfrm>
          <a:prstGeom prst="rightArrow">
            <a:avLst/>
          </a:prstGeom>
          <a:solidFill>
            <a:srgbClr val="6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15384" y="2194560"/>
            <a:ext cx="16916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5A5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09744" y="2377440"/>
            <a:ext cx="502920" cy="502920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2971800"/>
            <a:ext cx="1508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1F20"/>
                </a:solidFill>
                <a:latin typeface="Montserrat"/>
              </a:rPr>
              <a:t>React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1F20"/>
                </a:solidFill>
                <a:latin typeface="Montserrat"/>
              </a:rPr>
              <a:t>service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16168" y="2852928"/>
            <a:ext cx="146304" cy="237744"/>
          </a:xfrm>
          <a:prstGeom prst="rightArrow">
            <a:avLst/>
          </a:prstGeom>
          <a:solidFill>
            <a:srgbClr val="6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71616" y="2194560"/>
            <a:ext cx="16916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5A5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65976" y="2377440"/>
            <a:ext cx="502920" cy="502920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2971800"/>
            <a:ext cx="1508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1F20"/>
                </a:solidFill>
                <a:latin typeface="Montserrat"/>
              </a:rPr>
              <a:t>React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1F20"/>
                </a:solidFill>
                <a:latin typeface="Montserrat"/>
              </a:rPr>
              <a:t>screen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772400" y="2852928"/>
            <a:ext cx="146304" cy="237744"/>
          </a:xfrm>
          <a:prstGeom prst="rightArrow">
            <a:avLst/>
          </a:prstGeom>
          <a:solidFill>
            <a:srgbClr val="6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27848" y="2194560"/>
            <a:ext cx="16916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F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22208" y="2377440"/>
            <a:ext cx="502920" cy="502920"/>
          </a:xfrm>
          <a:prstGeom prst="round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2971800"/>
            <a:ext cx="1508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1F20"/>
                </a:solidFill>
                <a:latin typeface="Montserrat"/>
              </a:rPr>
              <a:t>Safety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1F20"/>
                </a:solidFill>
                <a:latin typeface="Montserrat"/>
              </a:rPr>
              <a:t>gate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628632" y="2852928"/>
            <a:ext cx="146304" cy="237744"/>
          </a:xfrm>
          <a:prstGeom prst="rightArrow">
            <a:avLst/>
          </a:prstGeom>
          <a:solidFill>
            <a:srgbClr val="6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84080" y="2194560"/>
            <a:ext cx="16916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9E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78440" y="2377440"/>
            <a:ext cx="502920" cy="502920"/>
          </a:xfrm>
          <a:prstGeom prst="round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971800"/>
            <a:ext cx="150876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1F20"/>
                </a:solidFill>
                <a:latin typeface="Montserrat"/>
              </a:rPr>
              <a:t>Verify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1F20"/>
                </a:solidFill>
                <a:latin typeface="Montserrat"/>
              </a:rPr>
              <a:t>end-to-end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297680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F4A4A"/>
                </a:solidFill>
                <a:latin typeface="Lato"/>
              </a:rPr>
              <a:t>Rule: </a:t>
            </a:r>
            <a:r>
              <a:rPr sz="1600" b="0">
                <a:solidFill>
                  <a:srgbClr val="221F20"/>
                </a:solidFill>
                <a:latin typeface="Lato"/>
              </a:rPr>
              <a:t>never start a screen before its table and endpoint exist. No mock data in real screens.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6C7C7A"/>
                </a:solidFill>
                <a:latin typeface="Lato"/>
              </a:rPr>
              <a:t>Do the whole rhythm for one small slice, demo it, then move to the next. That's how the 5 phases (next slide) stay shippable.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5 phases — each one is demoable on its 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563624"/>
            <a:ext cx="457200" cy="457200"/>
          </a:xfrm>
          <a:prstGeom prst="round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08760"/>
            <a:ext cx="22860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1F20"/>
                </a:solidFill>
                <a:latin typeface="Montserrat"/>
              </a:rP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508760"/>
            <a:ext cx="77724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C7C7A"/>
                </a:solidFill>
                <a:latin typeface="Lato"/>
              </a:rPr>
              <a:t>Confirm schema · create tables &amp; option sets · build the /lab shell + witness chip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40280"/>
            <a:ext cx="11064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2386584"/>
            <a:ext cx="457200" cy="457200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31720"/>
            <a:ext cx="22860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1F20"/>
                </a:solidFill>
                <a:latin typeface="Montserrat"/>
              </a:rPr>
              <a:t>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31720"/>
            <a:ext cx="77724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C7C7A"/>
                </a:solidFill>
                <a:latin typeface="Lato"/>
              </a:rPr>
              <a:t>Worklist · cycle overview · consent + 3-point-check GATE working end-to-end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63240"/>
            <a:ext cx="11064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3209544"/>
            <a:ext cx="457200" cy="457200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154680"/>
            <a:ext cx="22860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1F20"/>
                </a:solidFill>
                <a:latin typeface="Montserrat"/>
              </a:rPr>
              <a:t>Procedures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54680"/>
            <a:ext cx="77724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C7C7A"/>
                </a:solidFill>
                <a:latin typeface="Lato"/>
              </a:rPr>
              <a:t>Egg collection (MII/MI/GV) · semen prep · insemination · fertilisation (PN board)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11064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" y="4032504"/>
            <a:ext cx="457200" cy="457200"/>
          </a:xfrm>
          <a:prstGeom prst="round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77640"/>
            <a:ext cx="22860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1F20"/>
                </a:solidFill>
                <a:latin typeface="Montserrat"/>
              </a:rPr>
              <a:t>Lab 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977640"/>
            <a:ext cx="77724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C7C7A"/>
                </a:solidFill>
                <a:latin typeface="Lato"/>
              </a:rPr>
              <a:t>The Day 0-7 development grid (Gardner grades) · transfer · live KPIs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11064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855464"/>
            <a:ext cx="457200" cy="457200"/>
          </a:xfrm>
          <a:prstGeom prst="roundRect">
            <a:avLst/>
          </a:prstGeom>
          <a:solidFill>
            <a:srgbClr val="7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00600"/>
            <a:ext cx="22860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1F20"/>
                </a:solidFill>
                <a:latin typeface="Montserrat"/>
              </a:rPr>
              <a:t>Cryo &amp;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800600"/>
            <a:ext cx="77724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C7C7A"/>
                </a:solidFill>
                <a:latin typeface="Lato"/>
              </a:rPr>
              <a:t>Tanks &amp; inventory · freeze/thaw/biopsy · witnessing log · research banner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532120"/>
            <a:ext cx="11064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5678424"/>
            <a:ext cx="457200" cy="457200"/>
          </a:xfrm>
          <a:prstGeom prst="roundRect">
            <a:avLst/>
          </a:prstGeom>
          <a:solidFill>
            <a:srgbClr val="C98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623560"/>
            <a:ext cx="22860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1F20"/>
                </a:solidFill>
                <a:latin typeface="Montserrat"/>
              </a:rPr>
              <a:t>Reports &amp; Manager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623560"/>
            <a:ext cx="77724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C7C7A"/>
                </a:solidFill>
                <a:latin typeface="Lato"/>
              </a:rPr>
              <a:t>Outcome reports &amp; letters · lab worksheet · manager correct/delete (audited)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BACKEND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Adding one feature = 4 files (copy an existing one)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2194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F7D76"/>
                </a:solidFill>
                <a:latin typeface="Montserrat"/>
              </a:rPr>
              <a:t>1. DTO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517904"/>
            <a:ext cx="850392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1F20"/>
                </a:solidFill>
                <a:latin typeface="Consolas"/>
              </a:rPr>
              <a:t>TaskService.DataTransferObjects/&lt;Area&gt;/XxxDTO.cs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C7C7A"/>
                </a:solidFill>
                <a:latin typeface="Lato"/>
              </a:rPr>
              <a:t>plain properties (copy StoredSampleDTO)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1064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50592"/>
            <a:ext cx="2194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F7D76"/>
                </a:solidFill>
                <a:latin typeface="Montserrat"/>
              </a:rPr>
              <a:t>2.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32304"/>
            <a:ext cx="850392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1F20"/>
                </a:solidFill>
                <a:latin typeface="Consolas"/>
              </a:rPr>
              <a:t>TaskService.Services/&lt;Area&gt;/IXxxService.cs + XxxService.cs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C7C7A"/>
                </a:solidFill>
                <a:latin typeface="Lato"/>
              </a:rPr>
              <a:t>reads = FetchXML · writes = 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11064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64992"/>
            <a:ext cx="2194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F7D76"/>
                </a:solidFill>
                <a:latin typeface="Montserrat"/>
              </a:rPr>
              <a:t>3.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346704"/>
            <a:ext cx="850392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1F20"/>
                </a:solidFill>
                <a:latin typeface="Consolas"/>
              </a:rPr>
              <a:t>TaskService/Controllers/XxxController.cs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C7C7A"/>
                </a:solidFill>
                <a:latin typeface="Lato"/>
              </a:rPr>
              <a:t>[Authorize] + [RoutePrefix] · copy an existing 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11064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79392"/>
            <a:ext cx="219456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F7D76"/>
                </a:solidFill>
                <a:latin typeface="Montserrat"/>
              </a:rPr>
              <a:t>4. (Repository)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261104"/>
            <a:ext cx="850392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1F20"/>
                </a:solidFill>
                <a:latin typeface="Consolas"/>
              </a:rPr>
              <a:t>no change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C7C7A"/>
                </a:solidFill>
                <a:latin typeface="Lato"/>
              </a:rPr>
              <a:t>reuse CRMCoreRepository.Create/Update/Delete/Get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57800"/>
            <a:ext cx="1106424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1F20"/>
                </a:solidFill>
                <a:latin typeface="Lato"/>
              </a:rPr>
              <a:t>No dependency-injection wiring to touch. </a:t>
            </a:r>
            <a:r>
              <a:rPr sz="1400" b="0">
                <a:solidFill>
                  <a:srgbClr val="6C7C7A"/>
                </a:solidFill>
                <a:latin typeface="Lato"/>
              </a:rPr>
              <a:t>Attribute routing means a new controller just works. Test it in Swagger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F7D76"/>
                </a:solidFill>
                <a:latin typeface="Consolas"/>
              </a:rPr>
              <a:t>Idioms: OptionSetValue(int) · new EntityReference("logical", guid) · SpecifyKind(date, Utc) · run the ACSHelper guard.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FRONTEND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Adding one screen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310896" cy="310896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36192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21F20"/>
                </a:solidFill>
                <a:latin typeface="Lato"/>
              </a:rPr>
              <a:t>Put a route</a:t>
            </a:r>
            <a:r>
              <a:rPr sz="1550" b="0">
                <a:solidFill>
                  <a:srgbClr val="6C7C7A"/>
                </a:solidFill>
                <a:latin typeface="Lato"/>
              </a:rPr>
              <a:t> in src/Layout Component/Layout1.js under a new /lab tree (staff-only).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22576"/>
            <a:ext cx="310896" cy="310896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21F20"/>
                </a:solidFill>
                <a:latin typeface="Lato"/>
              </a:rPr>
              <a:t>Add API calls</a:t>
            </a:r>
            <a:r>
              <a:rPr sz="1550" b="0">
                <a:solidFill>
                  <a:srgbClr val="6C7C7A"/>
                </a:solidFill>
                <a:latin typeface="Lato"/>
              </a:rPr>
              <a:t> to one file: src/services/embryoApi.js (axios, same style as ProfileService.js).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72384"/>
            <a:ext cx="310896" cy="310896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35808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21F20"/>
                </a:solidFill>
                <a:latin typeface="Lato"/>
              </a:rPr>
              <a:t>Build the page</a:t>
            </a:r>
            <a:r>
              <a:rPr sz="1550" b="0">
                <a:solidFill>
                  <a:srgbClr val="6C7C7A"/>
                </a:solidFill>
                <a:latin typeface="Lato"/>
              </a:rPr>
              <a:t> in src/lab/pages/… — load in useEffect, write via embryoApi, toast the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22192"/>
            <a:ext cx="310896" cy="310896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85616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21F20"/>
                </a:solidFill>
                <a:latin typeface="Lato"/>
              </a:rPr>
              <a:t>Reuse components</a:t>
            </a:r>
            <a:r>
              <a:rPr sz="1550" b="0">
                <a:solidFill>
                  <a:srgbClr val="6C7C7A"/>
                </a:solidFill>
                <a:latin typeface="Lato"/>
              </a:rPr>
              <a:t> WitnessChip · StatusBadge · StatTile · PnBoard · DevelopmentGrid.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310896" cy="310896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35424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21F20"/>
                </a:solidFill>
                <a:latin typeface="Lato"/>
              </a:rPr>
              <a:t>Show the gate</a:t>
            </a:r>
            <a:r>
              <a:rPr sz="1550" b="0">
                <a:solidFill>
                  <a:srgbClr val="6C7C7A"/>
                </a:solidFill>
                <a:latin typeface="Lato"/>
              </a:rPr>
              <a:t> disable the button until the 3-point check passes &amp; witness ≠ performer.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69280"/>
            <a:ext cx="10881360" cy="64008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2F7D76"/>
                </a:solidFill>
                <a:latin typeface="Montserrat"/>
              </a:rPr>
              <a:t>Keep ALL lab code in src/lab/ + embryoApi.js. Don't restyle the patient portal.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IT'S NOT READ-ONLY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Everything can be added, edited, updated &amp; deleted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1F20"/>
                </a:solidFill>
                <a:latin typeface="Lato"/>
              </a:rPr>
              <a:t>Every record </a:t>
            </a:r>
            <a:r>
              <a:rPr sz="1600" b="0">
                <a:solidFill>
                  <a:srgbClr val="221F20"/>
                </a:solidFill>
                <a:latin typeface="Lato"/>
              </a:rPr>
              <a:t>— and every list that drives the forms (templates, tanks, sites, research projects) — is </a:t>
            </a:r>
            <a:r>
              <a:rPr sz="1600" b="1">
                <a:solidFill>
                  <a:srgbClr val="2F7D76"/>
                </a:solidFill>
                <a:latin typeface="Lato"/>
              </a:rPr>
              <a:t>fully read-write from the 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2697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2697480" cy="109728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1828800" cy="457200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ADD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21488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Create new rows. Every subgrid has an + Add button.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148840"/>
            <a:ext cx="2697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148840"/>
            <a:ext cx="2697480" cy="109728"/>
          </a:xfrm>
          <a:prstGeom prst="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2468880"/>
            <a:ext cx="1828800" cy="457200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EDIT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08960"/>
            <a:ext cx="21488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Partial update — send only what changed (incl. inline grid cells).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48840"/>
            <a:ext cx="2697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148840"/>
            <a:ext cx="2697480" cy="109728"/>
          </a:xfrm>
          <a:prstGeom prst="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2468880"/>
            <a:ext cx="1828800" cy="457200"/>
          </a:xfrm>
          <a:prstGeom prst="round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08960"/>
            <a:ext cx="21488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Soft-retire with a reason by default; hard delete = manager only.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48840"/>
            <a:ext cx="2697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48840"/>
            <a:ext cx="2697480" cy="109728"/>
          </a:xfrm>
          <a:prstGeom prst="rect">
            <a:avLst/>
          </a:prstGeom>
          <a:solidFill>
            <a:srgbClr val="7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0" y="2468880"/>
            <a:ext cx="1828800" cy="457200"/>
          </a:xfrm>
          <a:prstGeom prst="roundRect">
            <a:avLst/>
          </a:prstGeom>
          <a:solidFill>
            <a:srgbClr val="7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MANAGE LISTS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108960"/>
            <a:ext cx="21488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Templates, cryo tanks, research projects — CRUD, no developer needed.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26280"/>
            <a:ext cx="11064240" cy="13716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45152"/>
            <a:ext cx="106070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7D76"/>
                </a:solidFill>
                <a:latin typeface="Montserrat"/>
              </a:rPr>
              <a:t>Guardrails when editing clinical data: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2606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221F20"/>
                </a:solidFill>
                <a:latin typeface="Lato"/>
              </a:rPr>
              <a:t>Concurrency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6C7C7A"/>
                </a:solidFill>
                <a:latin typeface="Lato"/>
              </a:rPr>
              <a:t>two people, one cycle → 409 on a clash, reload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074920"/>
            <a:ext cx="2606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221F20"/>
                </a:solidFill>
                <a:latin typeface="Lato"/>
              </a:rPr>
              <a:t>Audit trail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6C7C7A"/>
                </a:solidFill>
                <a:latin typeface="Lato"/>
              </a:rPr>
              <a:t>Dataverse logs every field edit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074920"/>
            <a:ext cx="2606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221F20"/>
                </a:solidFill>
                <a:latin typeface="Lato"/>
              </a:rPr>
              <a:t>Role-gated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6C7C7A"/>
                </a:solidFill>
                <a:latin typeface="Lato"/>
              </a:rPr>
              <a:t>view / edit / delete by role (403 on server)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5074920"/>
            <a:ext cx="26060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221F20"/>
                </a:solidFill>
                <a:latin typeface="Lato"/>
              </a:rPr>
              <a:t>Correct &amp; re-enter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6C7C7A"/>
                </a:solidFill>
                <a:latin typeface="Lato"/>
              </a:rPr>
              <a:t>managers fix locked data with a reason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NON-NEGOTIABLE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The safety gates (enforce on the SERVER too)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91440"/>
          </a:xfrm>
          <a:prstGeom prst="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1F20"/>
                </a:solidFill>
                <a:latin typeface="Montserrat"/>
              </a:rPr>
              <a:t>Independent witness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C7C7A"/>
                </a:solidFill>
                <a:latin typeface="Lato"/>
              </a:rPr>
              <a:t>reject if witness = performer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91440"/>
          </a:xfrm>
          <a:prstGeom prst="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19072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1F20"/>
                </a:solidFill>
                <a:latin typeface="Montserrat"/>
              </a:rPr>
              <a:t>3-point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12848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C7C7A"/>
                </a:solidFill>
                <a:latin typeface="Lato"/>
              </a:rPr>
              <a:t>no procedure starts until it PASSES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3566160" cy="91440"/>
          </a:xfrm>
          <a:prstGeom prst="rect">
            <a:avLst/>
          </a:prstGeom>
          <a:solidFill>
            <a:srgbClr val="C98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19072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1F20"/>
                </a:solidFill>
                <a:latin typeface="Montserrat"/>
              </a:rPr>
              <a:t>Consent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212848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C7C7A"/>
                </a:solidFill>
                <a:latin typeface="Lato"/>
              </a:rPr>
              <a:t>cycle must be 'ready for procedure'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6324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063240"/>
            <a:ext cx="3566160" cy="91440"/>
          </a:xfrm>
          <a:prstGeom prst="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19272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1F20"/>
                </a:solidFill>
                <a:latin typeface="Montserrat"/>
              </a:rPr>
              <a:t>ICSI = MII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13048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C7C7A"/>
                </a:solidFill>
                <a:latin typeface="Lato"/>
              </a:rPr>
              <a:t>only mature (MII) eggs go to ICSI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06324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063240"/>
            <a:ext cx="3566160" cy="91440"/>
          </a:xfrm>
          <a:prstGeom prst="rect">
            <a:avLst/>
          </a:prstGeom>
          <a:solidFill>
            <a:srgbClr val="C98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319272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1F20"/>
                </a:solidFill>
                <a:latin typeface="Montserrat"/>
              </a:rPr>
              <a:t>2PN = normal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813048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C7C7A"/>
                </a:solidFill>
                <a:latin typeface="Lato"/>
              </a:rPr>
              <a:t>flag 0PN / 1PN / 3PN as abnormal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06324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063240"/>
            <a:ext cx="3566160" cy="9144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319272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1F20"/>
                </a:solidFill>
                <a:latin typeface="Montserrat"/>
              </a:rPr>
              <a:t>Carry-over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813048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C7C7A"/>
                </a:solidFill>
                <a:latin typeface="Lato"/>
              </a:rPr>
              <a:t>un-fated embryos roll to next 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F4A4A"/>
                </a:solidFill>
                <a:latin typeface="Lato"/>
              </a:rPr>
              <a:t>Why server-side? </a:t>
            </a:r>
            <a:r>
              <a:rPr sz="1400" b="0">
                <a:solidFill>
                  <a:srgbClr val="221F20"/>
                </a:solidFill>
                <a:latin typeface="Lato"/>
              </a:rPr>
              <a:t>The UI can be bypassed. The API is the last line of defence for patient safety.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CHEAT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The clinical words you must get 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29260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F7D76"/>
                </a:solidFill>
                <a:latin typeface="Montserrat"/>
              </a:rPr>
              <a:t>MII / MI / GV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490472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egg maturity. Only MII (mature) can be ICSI-inseminated.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02536"/>
            <a:ext cx="11064240" cy="566928"/>
          </a:xfrm>
          <a:prstGeom prst="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75688"/>
            <a:ext cx="29260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F7D76"/>
                </a:solidFill>
                <a:latin typeface="Montserrat"/>
              </a:rPr>
              <a:t>PN (pronuclei)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075688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checked ~16-18h after insemination. 2PN = normal fertilisation.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87752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60904"/>
            <a:ext cx="29260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F7D76"/>
                </a:solidFill>
                <a:latin typeface="Montserrat"/>
              </a:rPr>
              <a:t>PB (polar body)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660904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recorded alongside PN at the fertilisation check.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72968"/>
            <a:ext cx="11064240" cy="566928"/>
          </a:xfrm>
          <a:prstGeom prst="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29260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F7D76"/>
                </a:solidFill>
                <a:latin typeface="Montserrat"/>
              </a:rPr>
              <a:t>Gardner grade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246120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blastocyst = expansion 1-6 + ICM (A/B/C) + TE (A/B/C), e.g. 4AA.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58184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31336"/>
            <a:ext cx="29260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F7D76"/>
                </a:solidFill>
                <a:latin typeface="Montserrat"/>
              </a:rPr>
              <a:t>Fragmentation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831336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cleavage-stage quality; high = worse.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43400"/>
            <a:ext cx="11064240" cy="566928"/>
          </a:xfrm>
          <a:prstGeom prst="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16552"/>
            <a:ext cx="29260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F7D76"/>
                </a:solidFill>
                <a:latin typeface="Montserrat"/>
              </a:rPr>
              <a:t>Vienna KPIs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416552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benchmarks, e.g. Day-5 blastocyst rate 44-80% of 2PN zygotes.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28616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01768"/>
            <a:ext cx="29260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F7D76"/>
                </a:solidFill>
                <a:latin typeface="Montserrat"/>
              </a:rPr>
              <a:t>Istanbul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5001768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the current ESHRE/ALPHA grading standard the terminology follows.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13832"/>
            <a:ext cx="11064240" cy="566928"/>
          </a:xfrm>
          <a:prstGeom prst="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586984"/>
            <a:ext cx="29260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F7D76"/>
                </a:solidFill>
                <a:latin typeface="Montserrat"/>
              </a:rPr>
              <a:t>Double witnessing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586984"/>
            <a:ext cx="76809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independent 2nd person on every critical step (HFEA).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MAKE IT LOOK 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Branding cheat sheet (match the prototype)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1F20"/>
                </a:solidFill>
                <a:latin typeface="Lato"/>
              </a:rPr>
              <a:t>Fonts:  </a:t>
            </a:r>
            <a:r>
              <a:rPr sz="1500" b="1">
                <a:solidFill>
                  <a:srgbClr val="2F7D76"/>
                </a:solidFill>
                <a:latin typeface="Montserrat"/>
              </a:rPr>
              <a:t>Montserrat</a:t>
            </a:r>
            <a:r>
              <a:rPr sz="1400" b="0">
                <a:solidFill>
                  <a:srgbClr val="6C7C7A"/>
                </a:solidFill>
                <a:latin typeface="Lato"/>
              </a:rPr>
              <a:t> headings · </a:t>
            </a:r>
            <a:r>
              <a:rPr sz="1500" b="1">
                <a:solidFill>
                  <a:srgbClr val="2F7D76"/>
                </a:solidFill>
                <a:latin typeface="Lato"/>
              </a:rPr>
              <a:t>Lato</a:t>
            </a:r>
            <a:r>
              <a:rPr sz="1400" b="0">
                <a:solidFill>
                  <a:srgbClr val="6C7C7A"/>
                </a:solidFill>
                <a:latin typeface="Lato"/>
              </a:rPr>
              <a:t> body · </a:t>
            </a:r>
            <a:r>
              <a:rPr sz="1500" b="1">
                <a:solidFill>
                  <a:srgbClr val="2F7D76"/>
                </a:solidFill>
                <a:latin typeface="Consolas"/>
              </a:rPr>
              <a:t>JetBrains Mono</a:t>
            </a:r>
            <a:r>
              <a:rPr sz="1400" b="0">
                <a:solidFill>
                  <a:srgbClr val="6C7C7A"/>
                </a:solidFill>
                <a:latin typeface="Lato"/>
              </a:rPr>
              <a:t> for IDs &amp; lab numbers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783080" cy="1371600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783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#45a59d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1783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Lato"/>
              </a:rPr>
              <a:t>aqua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148840"/>
            <a:ext cx="1783080" cy="1371600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2560320"/>
            <a:ext cx="1783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#2f7d76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926080"/>
            <a:ext cx="1783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Lat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148840"/>
            <a:ext cx="1783080" cy="1371600"/>
          </a:xfrm>
          <a:prstGeom prst="round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560320"/>
            <a:ext cx="1783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#2f9e6f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926080"/>
            <a:ext cx="1783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Lato"/>
              </a:rPr>
              <a:t>normal / pass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148840"/>
            <a:ext cx="1783080" cy="1371600"/>
          </a:xfrm>
          <a:prstGeom prst="roundRect">
            <a:avLst/>
          </a:prstGeom>
          <a:solidFill>
            <a:srgbClr val="C98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560320"/>
            <a:ext cx="1783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#c9821c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926080"/>
            <a:ext cx="1783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Lato"/>
              </a:rPr>
              <a:t>attention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148840"/>
            <a:ext cx="1783080" cy="1371600"/>
          </a:xfrm>
          <a:prstGeom prst="round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560320"/>
            <a:ext cx="1783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#cf4a4a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926080"/>
            <a:ext cx="1783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Lato"/>
              </a:rPr>
              <a:t>abnormal / fail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2148840"/>
            <a:ext cx="1783080" cy="1371600"/>
          </a:xfrm>
          <a:prstGeom prst="roundRect">
            <a:avLst/>
          </a:prstGeom>
          <a:solidFill>
            <a:srgbClr val="7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560320"/>
            <a:ext cx="1783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#7a5cc0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926080"/>
            <a:ext cx="17830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Lato"/>
              </a:rPr>
              <a:t>research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41648"/>
            <a:ext cx="128016" cy="128016"/>
          </a:xfrm>
          <a:prstGeom prst="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3913632"/>
            <a:ext cx="1066190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21F20"/>
                </a:solidFill>
                <a:latin typeface="Lato"/>
              </a:rPr>
              <a:t>Colour is never the only signal</a:t>
            </a:r>
            <a:r>
              <a:rPr sz="1450" b="0">
                <a:solidFill>
                  <a:srgbClr val="6C7C7A"/>
                </a:solidFill>
                <a:latin typeface="Lato"/>
              </a:rPr>
              <a:t> — always pair it with a label or icon (safety-critical, colour-blind-safe).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700016"/>
            <a:ext cx="128016" cy="128016"/>
          </a:xfrm>
          <a:prstGeom prst="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4572000"/>
            <a:ext cx="1066190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21F20"/>
                </a:solidFill>
                <a:latin typeface="Lato"/>
              </a:rPr>
              <a:t>Every specimen ID &amp; lab value</a:t>
            </a:r>
            <a:r>
              <a:rPr sz="1450" b="0">
                <a:solidFill>
                  <a:srgbClr val="6C7C7A"/>
                </a:solidFill>
                <a:latin typeface="Lato"/>
              </a:rPr>
              <a:t> renders in monospace so numbers line up.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358384"/>
            <a:ext cx="128016" cy="128016"/>
          </a:xfrm>
          <a:prstGeom prst="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5230368"/>
            <a:ext cx="1066190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221F20"/>
                </a:solidFill>
                <a:latin typeface="Lato"/>
              </a:rPr>
              <a:t>All demo data stays synthetic</a:t>
            </a:r>
            <a:r>
              <a:rPr sz="1450" b="0">
                <a:solidFill>
                  <a:srgbClr val="6C7C7A"/>
                </a:solidFill>
                <a:latin typeface="Lato"/>
              </a:rPr>
              <a:t> — SAMPLE / MODEL / DEMO / PROTO patients only.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FINISH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"Done" checklist  +  where everything lives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6583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6126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F7D76"/>
                </a:solidFill>
                <a:latin typeface="Montserrat"/>
              </a:rPr>
              <a:t>Definition of Done (every slice)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093976"/>
            <a:ext cx="256032" cy="256032"/>
          </a:xfrm>
          <a:prstGeom prst="ellipse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39112"/>
            <a:ext cx="5760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Table exists in the OXAR_EmbryoModule solution (option sets + relationships)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734056"/>
            <a:ext cx="256032" cy="256032"/>
          </a:xfrm>
          <a:prstGeom prst="ellipse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679192"/>
            <a:ext cx="5760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Endpoint smoke-tested in Swagger; lookups &amp; option sets round-trip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374136"/>
            <a:ext cx="256032" cy="256032"/>
          </a:xfrm>
          <a:prstGeom prst="ellipse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319272"/>
            <a:ext cx="5760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React screen wired to the LIVE endpoint (no mock data)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014216"/>
            <a:ext cx="256032" cy="256032"/>
          </a:xfrm>
          <a:prstGeom prst="ellipse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959352"/>
            <a:ext cx="5760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Witness / consent / eligibility rules enforced server-side AND shown in UI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654296"/>
            <a:ext cx="256032" cy="256032"/>
          </a:xfrm>
          <a:prstGeom prst="ellipse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99432"/>
            <a:ext cx="5760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Brand matches the prototype; IDs &amp; values in mono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294376"/>
            <a:ext cx="256032" cy="256032"/>
          </a:xfrm>
          <a:prstGeom prst="ellipse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239512"/>
            <a:ext cx="5760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Requirement ticked; MIVF / SME notified for clinical sign-off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1371600"/>
            <a:ext cx="4297680" cy="4480560"/>
          </a:xfrm>
          <a:prstGeom prst="round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1554480"/>
            <a:ext cx="3840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45A59D"/>
                </a:solidFill>
                <a:latin typeface="Montserrat"/>
              </a:rPr>
              <a:t>What's in the repo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148840"/>
            <a:ext cx="384048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onsolas"/>
              </a:rPr>
              <a:t>docs/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CFE6E2"/>
                </a:solidFill>
                <a:latin typeface="Lato"/>
              </a:rPr>
              <a:t>README + 01-06: data model, API, frontend, CRUD, code-drop, treatment-type templates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898648"/>
            <a:ext cx="384048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onsolas"/>
              </a:rPr>
              <a:t>backend/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CFE6E2"/>
                </a:solidFill>
                <a:latin typeface="Lato"/>
              </a:rPr>
              <a:t>working C#: EmbryoEvent, Opu, CryoTank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648456"/>
            <a:ext cx="384048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onsolas"/>
              </a:rPr>
              <a:t>docs/templates/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CFE6E2"/>
                </a:solidFill>
                <a:latin typeface="Lato"/>
              </a:rPr>
              <a:t>treatment-type-display-templates.json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398264"/>
            <a:ext cx="384048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Consolas"/>
              </a:rPr>
              <a:t>docs/slides/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CFE6E2"/>
                </a:solidFill>
                <a:latin typeface="Lato"/>
              </a:rPr>
              <a:t>this deck + generator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394960"/>
            <a:ext cx="3840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45A59D"/>
                </a:solidFill>
                <a:latin typeface="Consolas"/>
              </a:rPr>
              <a:t>github.com/Jkosobucki/OXARv1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SHOW ONLY WHAT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One template per treatment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21F20"/>
                </a:solidFill>
                <a:latin typeface="Lato"/>
              </a:rPr>
              <a:t>Today every cycle shows every tab and field. Instead, the </a:t>
            </a:r>
            <a:r>
              <a:rPr sz="1600" b="1">
                <a:solidFill>
                  <a:srgbClr val="2F7D76"/>
                </a:solidFill>
                <a:latin typeface="Lato"/>
              </a:rPr>
              <a:t>treatment type</a:t>
            </a:r>
            <a:r>
              <a:rPr sz="1600" b="0">
                <a:solidFill>
                  <a:srgbClr val="221F20"/>
                </a:solidFill>
                <a:latin typeface="Lato"/>
              </a:rPr>
              <a:t> (with the patient) drives a template that </a:t>
            </a:r>
            <a:r>
              <a:rPr sz="1600" b="1">
                <a:solidFill>
                  <a:srgbClr val="2F7D76"/>
                </a:solidFill>
                <a:latin typeface="Lato"/>
              </a:rPr>
              <a:t>hides what's irrelevant and surfaces the right steps</a:t>
            </a:r>
            <a:r>
              <a:rPr sz="1600" b="0">
                <a:solidFill>
                  <a:srgbClr val="221F20"/>
                </a:solidFill>
                <a:latin typeface="Lato"/>
              </a:rPr>
              <a:t> — faster, safer data entry for the embryologist.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87168"/>
            <a:ext cx="310896" cy="310896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50592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1F20"/>
                </a:solidFill>
                <a:latin typeface="Lato"/>
              </a:rPr>
              <a:t>Pick patient + treatment type</a:t>
            </a:r>
            <a:r>
              <a:rPr sz="1500" b="0">
                <a:solidFill>
                  <a:srgbClr val="6C7C7A"/>
                </a:solidFill>
                <a:latin typeface="Lato"/>
              </a:rPr>
              <a:t> on the Treatment 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54096"/>
            <a:ext cx="310896" cy="310896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1F20"/>
                </a:solidFill>
                <a:latin typeface="Lato"/>
              </a:rPr>
              <a:t>Template loads</a:t>
            </a:r>
            <a:r>
              <a:rPr sz="1500" b="0">
                <a:solidFill>
                  <a:srgbClr val="6C7C7A"/>
                </a:solidFill>
                <a:latin typeface="Lato"/>
              </a:rPr>
              <a:t> — hides the tabs/fields that don't apply, shows the ones that 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21024"/>
            <a:ext cx="310896" cy="310896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84448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1F20"/>
                </a:solidFill>
                <a:latin typeface="Lato"/>
              </a:rPr>
              <a:t>Lab steps seed automatically</a:t>
            </a:r>
            <a:r>
              <a:rPr sz="1500" b="0">
                <a:solidFill>
                  <a:srgbClr val="6C7C7A"/>
                </a:solidFill>
                <a:latin typeface="Lato"/>
              </a:rPr>
              <a:t> — the worklist lists the right procedures for that type.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87952"/>
            <a:ext cx="310896" cy="310896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51376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1F20"/>
                </a:solidFill>
                <a:latin typeface="Lato"/>
              </a:rPr>
              <a:t>Managers can tune templates</a:t>
            </a:r>
            <a:r>
              <a:rPr sz="1500" b="0">
                <a:solidFill>
                  <a:srgbClr val="6C7C7A"/>
                </a:solidFill>
                <a:latin typeface="Lato"/>
              </a:rPr>
              <a:t> in the admin screen (reference data, not hard-coded).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881360" cy="64008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2F7D76"/>
                </a:solidFill>
                <a:latin typeface="Montserrat"/>
              </a:rPr>
              <a:t>Reuses the Event Template design (bcrm_eventtemplate keyed by treatment type)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C7C7A"/>
                </a:solidFill>
                <a:latin typeface="Lato"/>
              </a:rPr>
              <a:t>8 treatment types: IVF · Egg Only · Embryo Transfer · VOT · IUI · Ovulation Induction · Tracking · Thaw &amp; Refreeze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Key lab steps by treatment 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417320"/>
            <a:ext cx="996696" cy="310896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IVF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417320"/>
            <a:ext cx="996696" cy="310896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Egg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417320"/>
            <a:ext cx="996696" cy="310896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FET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417320"/>
            <a:ext cx="996696" cy="310896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VOT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417320"/>
            <a:ext cx="996696" cy="310896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IUI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17320"/>
            <a:ext cx="996696" cy="310896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OI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1417320"/>
            <a:ext cx="996696" cy="310896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Trk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27080" y="1417320"/>
            <a:ext cx="996696" cy="310896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T+R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837944"/>
            <a:ext cx="11375136" cy="301752"/>
          </a:xfrm>
          <a:prstGeom prst="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837944"/>
            <a:ext cx="301752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221F20"/>
                </a:solidFill>
                <a:latin typeface="Lato"/>
              </a:rPr>
              <a:t>Consent &amp; 3-Point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83794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83794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83794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83794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83794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83794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183794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183794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2176272"/>
            <a:ext cx="301752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221F20"/>
                </a:solidFill>
                <a:latin typeface="Lato"/>
              </a:rPr>
              <a:t>Ovarian Stimulation (Drugs)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217627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217627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17627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17627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17627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9821C"/>
                </a:solidFill>
                <a:latin typeface="Montserrat"/>
              </a:rPr>
              <a:t>––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217627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17627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27080" y="217627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2514600"/>
            <a:ext cx="11375136" cy="301752"/>
          </a:xfrm>
          <a:prstGeom prst="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2514600"/>
            <a:ext cx="301752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221F20"/>
                </a:solidFill>
                <a:latin typeface="Lato"/>
              </a:rPr>
              <a:t>Folliculogram 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251460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251460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251460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9821C"/>
                </a:solidFill>
                <a:latin typeface="Montserrat"/>
              </a:rPr>
              <a:t>––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251460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251460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251460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251460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27080" y="251460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" y="2852928"/>
            <a:ext cx="301752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221F20"/>
                </a:solidFill>
                <a:latin typeface="Lato"/>
              </a:rPr>
              <a:t>OPU (Egg Collection)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285292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285292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285292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285292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285292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285292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285292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27080" y="285292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191256"/>
            <a:ext cx="11375136" cy="301752"/>
          </a:xfrm>
          <a:prstGeom prst="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" y="3191256"/>
            <a:ext cx="301752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221F20"/>
                </a:solidFill>
                <a:latin typeface="Lato"/>
              </a:rPr>
              <a:t>Oocyte Thaw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66160" y="319125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17720" y="319125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0" y="319125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0840" y="319125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319125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23960" y="319125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0" y="319125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27080" y="319125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" y="3529584"/>
            <a:ext cx="301752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221F20"/>
                </a:solidFill>
                <a:latin typeface="Lato"/>
              </a:rPr>
              <a:t>Semen Prep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66160" y="352958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17720" y="352958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352958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20840" y="352958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72400" y="352958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23960" y="352958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75520" y="352958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27080" y="352958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3867912"/>
            <a:ext cx="11375136" cy="301752"/>
          </a:xfrm>
          <a:prstGeom prst="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3504" y="3867912"/>
            <a:ext cx="301752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221F20"/>
                </a:solidFill>
                <a:latin typeface="Lato"/>
              </a:rPr>
              <a:t>Insemination (IVF/ICSI)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66160" y="386791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17720" y="386791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0" y="386791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20840" y="386791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0" y="386791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23960" y="386791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75520" y="386791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27080" y="386791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" y="4206240"/>
            <a:ext cx="301752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221F20"/>
                </a:solidFill>
                <a:latin typeface="Lato"/>
              </a:rPr>
              <a:t>IUI insemination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66160" y="420624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17720" y="420624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0" y="420624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20840" y="420624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72400" y="420624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823960" y="420624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875520" y="420624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927080" y="420624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4544568"/>
            <a:ext cx="11375136" cy="301752"/>
          </a:xfrm>
          <a:prstGeom prst="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3504" y="4544568"/>
            <a:ext cx="301752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221F20"/>
                </a:solidFill>
                <a:latin typeface="Lato"/>
              </a:rPr>
              <a:t>Fertilisation + Culture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66160" y="454456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17720" y="454456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9280" y="454456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20840" y="454456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72400" y="454456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23960" y="454456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75520" y="454456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927080" y="4544568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3504" y="4882896"/>
            <a:ext cx="301752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221F20"/>
                </a:solidFill>
                <a:latin typeface="Lato"/>
              </a:rPr>
              <a:t>Embryo Thaw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566160" y="488289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9821C"/>
                </a:solidFill>
                <a:latin typeface="Montserrat"/>
              </a:rPr>
              <a:t>––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17720" y="488289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0" y="488289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720840" y="488289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772400" y="488289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23960" y="488289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75520" y="488289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927080" y="4882896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9821C"/>
                </a:solidFill>
                <a:latin typeface="Montserrat"/>
              </a:rPr>
              <a:t>––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48640" y="5221224"/>
            <a:ext cx="11375136" cy="301752"/>
          </a:xfrm>
          <a:prstGeom prst="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03504" y="5221224"/>
            <a:ext cx="301752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221F20"/>
                </a:solidFill>
                <a:latin typeface="Lato"/>
              </a:rPr>
              <a:t>Embryo Transfer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66160" y="522122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17720" y="522122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0" y="522122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720840" y="522122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772400" y="522122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823960" y="522122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875520" y="522122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927080" y="5221224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3504" y="5559552"/>
            <a:ext cx="301752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221F20"/>
                </a:solidFill>
                <a:latin typeface="Lato"/>
              </a:rPr>
              <a:t>Freeze / Store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566160" y="555955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617720" y="555955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669280" y="555955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720840" y="555955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9821C"/>
                </a:solidFill>
                <a:latin typeface="Montserrat"/>
              </a:rPr>
              <a:t>––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772400" y="555955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823960" y="555955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875520" y="555955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927080" y="5559552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48640" y="5897880"/>
            <a:ext cx="11375136" cy="301752"/>
          </a:xfrm>
          <a:prstGeom prst="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03504" y="5897880"/>
            <a:ext cx="301752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221F20"/>
                </a:solidFill>
                <a:latin typeface="Lato"/>
              </a:rPr>
              <a:t>Outcome / Preg test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566160" y="589788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617720" y="589788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669280" y="589788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720840" y="589788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772400" y="589788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823960" y="589788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875520" y="589788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9821C"/>
                </a:solidFill>
                <a:latin typeface="Montserrat"/>
              </a:rPr>
              <a:t>––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927080" y="5897880"/>
            <a:ext cx="1051560" cy="3383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C7C7A"/>
                </a:solidFill>
                <a:latin typeface="Montserrat"/>
              </a:rPr>
              <a:t>·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48640" y="62819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C7C7A"/>
                </a:solidFill>
                <a:latin typeface="Lato"/>
              </a:rPr>
              <a:t>✓ applies      –– sometimes      · not applicable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IVF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Full stimulated cycle — collect eggs, fertilise, transfer / freeze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7D76"/>
                </a:solidFill>
                <a:latin typeface="Montserrat"/>
              </a:rPr>
              <a:t>KEY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677924" cy="329184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Consent &amp; 3PC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6292" y="1600200"/>
            <a:ext cx="1467612" cy="329184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Stimulation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13632" y="1600200"/>
            <a:ext cx="1677924" cy="329184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Folliculogram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01284" y="1600200"/>
            <a:ext cx="1046988" cy="329184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Trigger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600200"/>
            <a:ext cx="868680" cy="329184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OPU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6408" y="1600200"/>
            <a:ext cx="1362456" cy="329184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Semen Prep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08592" y="1600200"/>
            <a:ext cx="1572768" cy="329184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Insemination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057400"/>
            <a:ext cx="1677924" cy="329184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Fertilisation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6292" y="2057400"/>
            <a:ext cx="1572768" cy="329184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Culture D2-7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18788" y="2057400"/>
            <a:ext cx="1152144" cy="329184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Transfer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80660" y="2057400"/>
            <a:ext cx="941832" cy="329184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Freeze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2220" y="2057400"/>
            <a:ext cx="1046988" cy="329184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Outcome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523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752344"/>
            <a:ext cx="109728" cy="210312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8895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SHOW THESE TABS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3192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Overview  ·  Folliculogram  ·  Drugs  ·  Oocyte Retrieval  ·  Gametes  ·  Lab Results  ·  Embryo Transfer  ·  Stored Sample  ·  Outcome Data  ·  Checklists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7523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752344"/>
            <a:ext cx="109728" cy="2103120"/>
          </a:xfrm>
          <a:prstGeom prst="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8895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F4A4A"/>
                </a:solidFill>
                <a:latin typeface="Montserrat"/>
              </a:rPr>
              <a:t>HIDE THESE TABS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3192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IUI/DI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1792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Lato"/>
              </a:rPr>
              <a:t>Fields:  </a:t>
            </a:r>
            <a:r>
              <a:rPr sz="1200" b="0">
                <a:solidFill>
                  <a:srgbClr val="6C7C7A"/>
                </a:solidFill>
                <a:latin typeface="Lato"/>
              </a:rPr>
              <a:t>Show partner, diagnosis, sperm source, # embryos to replace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EGG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Egg freezing / preservation — collect &amp; vitrify (no fertilisation)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7D76"/>
                </a:solidFill>
                <a:latin typeface="Montserrat"/>
              </a:rPr>
              <a:t>KEY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677924" cy="329184"/>
          </a:xfrm>
          <a:prstGeom prst="round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Consent &amp; 3PC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6292" y="1600200"/>
            <a:ext cx="1467612" cy="329184"/>
          </a:xfrm>
          <a:prstGeom prst="round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Stimulation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13632" y="1600200"/>
            <a:ext cx="1677924" cy="329184"/>
          </a:xfrm>
          <a:prstGeom prst="round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Folliculogram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01284" y="1600200"/>
            <a:ext cx="1046988" cy="329184"/>
          </a:xfrm>
          <a:prstGeom prst="round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Trigger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600200"/>
            <a:ext cx="868680" cy="329184"/>
          </a:xfrm>
          <a:prstGeom prst="round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OPU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6408" y="1600200"/>
            <a:ext cx="1783080" cy="329184"/>
          </a:xfrm>
          <a:prstGeom prst="round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Denuding / MII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29216" y="1600200"/>
            <a:ext cx="1888236" cy="329184"/>
          </a:xfrm>
          <a:prstGeom prst="round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Vitrify Oocytes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057400"/>
            <a:ext cx="1046988" cy="329184"/>
          </a:xfrm>
          <a:prstGeom prst="round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523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52344"/>
            <a:ext cx="109728" cy="210312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895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SHOW THESE TABS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3192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Overview  ·  Folliculogram  ·  Drugs  ·  Oocyte Retrieval  ·  Gametes  ·  Stored Sample  ·  Checklists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7523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52344"/>
            <a:ext cx="109728" cy="2103120"/>
          </a:xfrm>
          <a:prstGeom prst="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8895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F4A4A"/>
                </a:solidFill>
                <a:latin typeface="Montserrat"/>
              </a:rPr>
              <a:t>HIDE THESE TABS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3192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Embryo Transfer  ·  IUI/DI  ·  Lab Results  ·  Recommendation  ·  Outcome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1792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Lato"/>
              </a:rPr>
              <a:t>Fields:  </a:t>
            </a:r>
            <a:r>
              <a:rPr sz="1200" b="0">
                <a:solidFill>
                  <a:srgbClr val="6C7C7A"/>
                </a:solidFill>
                <a:latin typeface="Lato"/>
              </a:rPr>
              <a:t>Hide partner, sperm source, # embryos to replace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EMBRYO TRANSFER (FET)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Frozen embryo transfer — thaw a stored embryo &amp;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7D76"/>
                </a:solidFill>
                <a:latin typeface="Montserrat"/>
              </a:rPr>
              <a:t>KEY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677924" cy="329184"/>
          </a:xfrm>
          <a:prstGeom prst="roundRect">
            <a:avLst/>
          </a:prstGeom>
          <a:solidFill>
            <a:srgbClr val="7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Consent &amp; 3PC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6292" y="1600200"/>
            <a:ext cx="2203704" cy="329184"/>
          </a:xfrm>
          <a:prstGeom prst="roundRect">
            <a:avLst/>
          </a:prstGeom>
          <a:solidFill>
            <a:srgbClr val="7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Endo Prep / Lining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9724" y="1600200"/>
            <a:ext cx="1677924" cy="329184"/>
          </a:xfrm>
          <a:prstGeom prst="roundRect">
            <a:avLst/>
          </a:prstGeom>
          <a:solidFill>
            <a:srgbClr val="7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Select Embryo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1600200"/>
            <a:ext cx="1467612" cy="329184"/>
          </a:xfrm>
          <a:prstGeom prst="roundRect">
            <a:avLst/>
          </a:prstGeom>
          <a:solidFill>
            <a:srgbClr val="7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Embryo Thaw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4716" y="1600200"/>
            <a:ext cx="868680" cy="329184"/>
          </a:xfrm>
          <a:prstGeom prst="roundRect">
            <a:avLst/>
          </a:prstGeom>
          <a:solidFill>
            <a:srgbClr val="7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3PC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3124" y="1600200"/>
            <a:ext cx="1152144" cy="329184"/>
          </a:xfrm>
          <a:prstGeom prst="roundRect">
            <a:avLst/>
          </a:prstGeom>
          <a:solidFill>
            <a:srgbClr val="7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Transfer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54996" y="1600200"/>
            <a:ext cx="1046988" cy="329184"/>
          </a:xfrm>
          <a:prstGeom prst="roundRect">
            <a:avLst/>
          </a:prstGeom>
          <a:solidFill>
            <a:srgbClr val="7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Outcome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2951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295144"/>
            <a:ext cx="109728" cy="210312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323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SHOW THESE TABS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Overview  ·  Folliculogram  ·  Drugs  ·  Gametes  ·  Stored Sample  ·  Embryo Transfer  ·  Outcome Data  ·  Checklists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2951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295144"/>
            <a:ext cx="109728" cy="2103120"/>
          </a:xfrm>
          <a:prstGeom prst="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4323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F4A4A"/>
                </a:solidFill>
                <a:latin typeface="Montserrat"/>
              </a:rPr>
              <a:t>HIDE THESE TABS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620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Oocyte Retrieval  ·  IUI/DI  ·  Lab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Lato"/>
              </a:rPr>
              <a:t>Fields:  </a:t>
            </a:r>
            <a:r>
              <a:rPr sz="1200" b="0">
                <a:solidFill>
                  <a:srgbClr val="6C7C7A"/>
                </a:solidFill>
                <a:latin typeface="Lato"/>
              </a:rPr>
              <a:t>Show # embryos to replace; hide sperm source &amp; egg-collection fields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VOT  (VITRIFIED OOCYTE THAW — CONFIRM)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Thaw frozen eggs — ICSI — culture —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7D76"/>
                </a:solidFill>
                <a:latin typeface="Montserrat"/>
              </a:rPr>
              <a:t>KEY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677924" cy="329184"/>
          </a:xfrm>
          <a:prstGeom prst="roundRect">
            <a:avLst/>
          </a:prstGeom>
          <a:solidFill>
            <a:srgbClr val="C98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Consent &amp; 3PC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6292" y="1600200"/>
            <a:ext cx="2203704" cy="329184"/>
          </a:xfrm>
          <a:prstGeom prst="roundRect">
            <a:avLst/>
          </a:prstGeom>
          <a:solidFill>
            <a:srgbClr val="C98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Select Frozen Eggs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9724" y="1600200"/>
            <a:ext cx="1467612" cy="329184"/>
          </a:xfrm>
          <a:prstGeom prst="roundRect">
            <a:avLst/>
          </a:prstGeom>
          <a:solidFill>
            <a:srgbClr val="C98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Oocyte Thaw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600200"/>
            <a:ext cx="1152144" cy="329184"/>
          </a:xfrm>
          <a:prstGeom prst="roundRect">
            <a:avLst/>
          </a:prstGeom>
          <a:solidFill>
            <a:srgbClr val="C98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Survival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88936" y="1600200"/>
            <a:ext cx="1362456" cy="329184"/>
          </a:xfrm>
          <a:prstGeom prst="roundRect">
            <a:avLst/>
          </a:prstGeom>
          <a:solidFill>
            <a:srgbClr val="C98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Semen Prep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00200"/>
            <a:ext cx="868680" cy="329184"/>
          </a:xfrm>
          <a:prstGeom prst="roundRect">
            <a:avLst/>
          </a:prstGeom>
          <a:solidFill>
            <a:srgbClr val="C98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ICSI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39528" y="1600200"/>
            <a:ext cx="1677924" cy="329184"/>
          </a:xfrm>
          <a:prstGeom prst="roundRect">
            <a:avLst/>
          </a:prstGeom>
          <a:solidFill>
            <a:srgbClr val="C98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Fertilisation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057400"/>
            <a:ext cx="1046988" cy="329184"/>
          </a:xfrm>
          <a:prstGeom prst="roundRect">
            <a:avLst/>
          </a:prstGeom>
          <a:solidFill>
            <a:srgbClr val="C98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Culture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05356" y="2057400"/>
            <a:ext cx="2098548" cy="329184"/>
          </a:xfrm>
          <a:prstGeom prst="roundRect">
            <a:avLst/>
          </a:prstGeom>
          <a:solidFill>
            <a:srgbClr val="C98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Transfer / Freeze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13632" y="2057400"/>
            <a:ext cx="1046988" cy="329184"/>
          </a:xfrm>
          <a:prstGeom prst="roundRect">
            <a:avLst/>
          </a:prstGeom>
          <a:solidFill>
            <a:srgbClr val="C98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Outcome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523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52344"/>
            <a:ext cx="109728" cy="210312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895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SHOW THESE TABS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192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Overview  ·  Gametes  ·  Stored Sample  ·  Lab Results  ·  Embryo Transfer  ·  Drugs  ·  Outcome Data  ·  Checklists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7523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752344"/>
            <a:ext cx="109728" cy="2103120"/>
          </a:xfrm>
          <a:prstGeom prst="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8895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F4A4A"/>
                </a:solidFill>
                <a:latin typeface="Montserrat"/>
              </a:rPr>
              <a:t>HIDE THESE TABS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3192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Oocyte Retrieval  ·  Folliculogram  ·  IUI/DI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1792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Lato"/>
              </a:rPr>
              <a:t>Fields:  </a:t>
            </a:r>
            <a:r>
              <a:rPr sz="1200" b="0">
                <a:solidFill>
                  <a:srgbClr val="6C7C7A"/>
                </a:solidFill>
                <a:latin typeface="Lato"/>
              </a:rPr>
              <a:t>Confirm the acronym with MIVF / SME before wiring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IUI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Intrauterine insemination — prepared sperm into uterus (no egg collection)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7D76"/>
                </a:solidFill>
                <a:latin typeface="Montserrat"/>
              </a:rPr>
              <a:t>KEY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677924" cy="329184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Consent &amp; 3PC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6292" y="1600200"/>
            <a:ext cx="1572768" cy="329184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OI / Natural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18788" y="1600200"/>
            <a:ext cx="1677924" cy="329184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Folliculogram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600200"/>
            <a:ext cx="1046988" cy="329184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Trigger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3156" y="1600200"/>
            <a:ext cx="1362456" cy="329184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Semen Prep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5340" y="1600200"/>
            <a:ext cx="1993392" cy="329184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IUI Insemination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38460" y="1600200"/>
            <a:ext cx="1046988" cy="329184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Outcome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2951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295144"/>
            <a:ext cx="109728" cy="210312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323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SHOW THESE TABS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Overview  ·  Folliculogram  ·  Drugs  ·  IUI/DI  ·  Gametes  ·  Outcome Data  ·  Checklists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2951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295144"/>
            <a:ext cx="109728" cy="2103120"/>
          </a:xfrm>
          <a:prstGeom prst="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4323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F4A4A"/>
                </a:solidFill>
                <a:latin typeface="Montserrat"/>
              </a:rPr>
              <a:t>HIDE THESE TABS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620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Oocyte Retrieval  ·  Embryo Transfer  ·  Lab Results  ·  Stored Sample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Lato"/>
              </a:rPr>
              <a:t>Fields:  </a:t>
            </a:r>
            <a:r>
              <a:rPr sz="1200" b="0">
                <a:solidFill>
                  <a:srgbClr val="6C7C7A"/>
                </a:solidFill>
                <a:latin typeface="Lato"/>
              </a:rPr>
              <a:t>Show partner &amp; sperm source; hide # embryos to replace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OVULATION INDUCTION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Drug-induced ovulation + timed intercourse (monitoring only)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7D76"/>
                </a:solidFill>
                <a:latin typeface="Montserrat"/>
              </a:rPr>
              <a:t>KEY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046988" cy="329184"/>
          </a:xfrm>
          <a:prstGeom prst="roundRect">
            <a:avLst/>
          </a:prstGeom>
          <a:solidFill>
            <a:srgbClr val="6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Consent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5356" y="1600200"/>
            <a:ext cx="1152144" cy="329184"/>
          </a:xfrm>
          <a:prstGeom prst="roundRect">
            <a:avLst/>
          </a:prstGeom>
          <a:solidFill>
            <a:srgbClr val="6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OI Drugs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7228" y="1600200"/>
            <a:ext cx="1677924" cy="329184"/>
          </a:xfrm>
          <a:prstGeom prst="roundRect">
            <a:avLst/>
          </a:prstGeom>
          <a:solidFill>
            <a:srgbClr val="6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Folliculogram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600200"/>
            <a:ext cx="1046988" cy="329184"/>
          </a:xfrm>
          <a:prstGeom prst="roundRect">
            <a:avLst/>
          </a:prstGeom>
          <a:solidFill>
            <a:srgbClr val="6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Trigger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11596" y="1600200"/>
            <a:ext cx="2098548" cy="329184"/>
          </a:xfrm>
          <a:prstGeom prst="roundRect">
            <a:avLst/>
          </a:prstGeom>
          <a:solidFill>
            <a:srgbClr val="6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Timed Intercourse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00200"/>
            <a:ext cx="1046988" cy="329184"/>
          </a:xfrm>
          <a:prstGeom prst="roundRect">
            <a:avLst/>
          </a:prstGeom>
          <a:solidFill>
            <a:srgbClr val="6C7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Outcome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951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295144"/>
            <a:ext cx="109728" cy="210312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4323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SHOW THESE TABS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620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Overview  ·  Drugs  ·  Folliculogram  ·  Outcome Data  ·  Checklists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951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295144"/>
            <a:ext cx="109728" cy="2103120"/>
          </a:xfrm>
          <a:prstGeom prst="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4323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F4A4A"/>
                </a:solidFill>
                <a:latin typeface="Montserrat"/>
              </a:rPr>
              <a:t>HIDE THESE TABS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8620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Oocyte Retrieval  ·  Embryo Transfer  ·  IUI/DI  ·  Gametes  ·  Lab Results  ·  Stored Sample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1792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Lato"/>
              </a:rPr>
              <a:t>Fields:  </a:t>
            </a:r>
            <a:r>
              <a:rPr sz="1200" b="0">
                <a:solidFill>
                  <a:srgbClr val="6C7C7A"/>
                </a:solidFill>
                <a:latin typeface="Lato"/>
              </a:rPr>
              <a:t>Mostly monitoring; hide embryo / sperm fields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Cycle monitoring / scan tracking only (no procedure)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7D76"/>
                </a:solidFill>
                <a:latin typeface="Montserrat"/>
              </a:rPr>
              <a:t>KEY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624328" cy="329184"/>
          </a:xfrm>
          <a:prstGeom prst="round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Folliculogram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2696" y="1600200"/>
            <a:ext cx="2729484" cy="329184"/>
          </a:xfrm>
          <a:prstGeom prst="round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LH &amp; Trigger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1908" y="1600200"/>
            <a:ext cx="2203704" cy="329184"/>
          </a:xfrm>
          <a:prstGeom prst="roundRect">
            <a:avLst/>
          </a:prstGeom>
          <a:solidFill>
            <a:srgbClr val="22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Outcome / Hand-off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951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95144"/>
            <a:ext cx="109728" cy="210312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323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SHOW THESE TABS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620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Overview  ·  Folliculogram  ·  Outcome Data  ·  Drugs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951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295144"/>
            <a:ext cx="109728" cy="2103120"/>
          </a:xfrm>
          <a:prstGeom prst="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4323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F4A4A"/>
                </a:solidFill>
                <a:latin typeface="Montserrat"/>
              </a:rPr>
              <a:t>HIDE THESE TABS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8620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Oocyte Retrieval  ·  Embryo Transfer  ·  IUI/DI  ·  Gametes  ·  Lab Results  ·  Stored Sample  · 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1792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Lato"/>
              </a:rPr>
              <a:t>Fields:  </a:t>
            </a:r>
            <a:r>
              <a:rPr sz="1200" b="0">
                <a:solidFill>
                  <a:srgbClr val="6C7C7A"/>
                </a:solidFill>
                <a:latin typeface="Lato"/>
              </a:rPr>
              <a:t>Doctor, nurse, period dates only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THAW AND REFREEZE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Thaw a stored specimen — (± biopsy) — refreeze — storage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F7D76"/>
                </a:solidFill>
                <a:latin typeface="Montserrat"/>
              </a:rPr>
              <a:t>KEY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677924" cy="329184"/>
          </a:xfrm>
          <a:prstGeom prst="round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Consent &amp; 3PC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6292" y="1600200"/>
            <a:ext cx="1888236" cy="329184"/>
          </a:xfrm>
          <a:prstGeom prst="round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Select Specimen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600200"/>
            <a:ext cx="868680" cy="329184"/>
          </a:xfrm>
          <a:prstGeom prst="round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Thaw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12664" y="1600200"/>
            <a:ext cx="2098548" cy="329184"/>
          </a:xfrm>
          <a:prstGeom prst="round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Assess (± Biopsy)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0940" y="1600200"/>
            <a:ext cx="1152144" cy="329184"/>
          </a:xfrm>
          <a:prstGeom prst="round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Refreeze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82812" y="1600200"/>
            <a:ext cx="1046988" cy="329184"/>
          </a:xfrm>
          <a:prstGeom prst="round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39528" y="1600200"/>
            <a:ext cx="1362456" cy="329184"/>
          </a:xfrm>
          <a:prstGeom prst="round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Witnessing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2951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295144"/>
            <a:ext cx="109728" cy="210312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323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9E6F"/>
                </a:solidFill>
                <a:latin typeface="Montserrat"/>
              </a:rPr>
              <a:t>SHOW THESE TABS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8620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Overview  ·  Gametes  ·  Stored Sample  ·  Checklists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295144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295144"/>
            <a:ext cx="109728" cy="2103120"/>
          </a:xfrm>
          <a:prstGeom prst="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43230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F4A4A"/>
                </a:solidFill>
                <a:latin typeface="Montserrat"/>
              </a:rPr>
              <a:t>HIDE THESE TABS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62072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Folliculogram  ·  Drugs  ·  Oocyte Retrieval  ·  Embryo Transfer  ·  IUI/DI  ·  Lab Results  ·  Outcome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Lato"/>
              </a:rPr>
              <a:t>Fields:  </a:t>
            </a:r>
            <a:r>
              <a:rPr sz="1200" b="0">
                <a:solidFill>
                  <a:srgbClr val="6C7C7A"/>
                </a:solidFill>
                <a:latin typeface="Lato"/>
              </a:rPr>
              <a:t>Storage location &amp; consent; hide clinical / stimulation fields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TAB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Treatment Planning  →  Three-Point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F7D76"/>
                </a:solidFill>
                <a:latin typeface="Lato"/>
              </a:rPr>
              <a:t>Plan first, then verify. </a:t>
            </a:r>
            <a:r>
              <a:rPr sz="1600" b="0">
                <a:solidFill>
                  <a:srgbClr val="221F20"/>
                </a:solidFill>
                <a:latin typeface="Lato"/>
              </a:rPr>
              <a:t>The Treatment Planning tab consolidates today's Overview; the treatment type then hides irrelevant fields. The Three-Point Check gates every procedure.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676656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6766560" cy="109728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F7D76"/>
                </a:solidFill>
                <a:latin typeface="Montserrat"/>
              </a:rPr>
              <a:t>1 · TREATMENT PLANNING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80944"/>
            <a:ext cx="128016" cy="128016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89504"/>
            <a:ext cx="6126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1F20"/>
                </a:solidFill>
                <a:latin typeface="Lato"/>
              </a:rPr>
              <a:t>Cycle Information  </a:t>
            </a:r>
            <a:r>
              <a:rPr sz="1200" b="0">
                <a:solidFill>
                  <a:srgbClr val="6C7C7A"/>
                </a:solidFill>
                <a:latin typeface="Lato"/>
              </a:rPr>
              <a:t>type, template, billing, ANZARD, instructions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547872"/>
            <a:ext cx="128016" cy="128016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56432"/>
            <a:ext cx="6126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1F20"/>
                </a:solidFill>
                <a:latin typeface="Lato"/>
              </a:rPr>
              <a:t>People  </a:t>
            </a:r>
            <a:r>
              <a:rPr sz="1200" b="0">
                <a:solidFill>
                  <a:srgbClr val="6C7C7A"/>
                </a:solidFill>
                <a:latin typeface="Lato"/>
              </a:rPr>
              <a:t>patient, partner, doctor, nurse, groups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114800"/>
            <a:ext cx="128016" cy="128016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23360"/>
            <a:ext cx="6126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1F20"/>
                </a:solidFill>
                <a:latin typeface="Lato"/>
              </a:rPr>
              <a:t>Clinic &amp; Dates  </a:t>
            </a:r>
            <a:r>
              <a:rPr sz="1200" b="0">
                <a:solidFill>
                  <a:srgbClr val="6C7C7A"/>
                </a:solidFill>
                <a:latin typeface="Lato"/>
              </a:rPr>
              <a:t>managing/procedure clinic, start &amp; period dates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681728"/>
            <a:ext cx="128016" cy="128016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90288"/>
            <a:ext cx="6126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1F20"/>
                </a:solidFill>
                <a:latin typeface="Lato"/>
              </a:rPr>
              <a:t>Diagnosis  </a:t>
            </a:r>
            <a:r>
              <a:rPr sz="1200" b="0">
                <a:solidFill>
                  <a:srgbClr val="6C7C7A"/>
                </a:solidFill>
                <a:latin typeface="Lato"/>
              </a:rPr>
              <a:t>female / male infertility + comment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248656"/>
            <a:ext cx="128016" cy="128016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57216"/>
            <a:ext cx="6126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1F20"/>
                </a:solidFill>
                <a:latin typeface="Lato"/>
              </a:rPr>
              <a:t>Plan (new)  </a:t>
            </a:r>
            <a:r>
              <a:rPr sz="1200" b="0">
                <a:solidFill>
                  <a:srgbClr val="6C7C7A"/>
                </a:solidFill>
                <a:latin typeface="Lato"/>
              </a:rPr>
              <a:t>Event Template (seeds worklist) + Research Project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286000"/>
            <a:ext cx="42976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2286000"/>
            <a:ext cx="4297680" cy="109728"/>
          </a:xfrm>
          <a:prstGeom prst="rect">
            <a:avLst/>
          </a:prstGeom>
          <a:solidFill>
            <a:srgbClr val="CF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2468880"/>
            <a:ext cx="38404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F4A4A"/>
                </a:solidFill>
                <a:latin typeface="Montserrat"/>
              </a:rPr>
              <a:t>2 · THREE-POINT CHECK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2990088"/>
            <a:ext cx="237744" cy="237744"/>
          </a:xfrm>
          <a:prstGeom prst="ellipse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944368"/>
            <a:ext cx="3566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Patient verified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3538728"/>
            <a:ext cx="237744" cy="237744"/>
          </a:xfrm>
          <a:prstGeom prst="ellipse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493008"/>
            <a:ext cx="3566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Partner verified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4087368"/>
            <a:ext cx="237744" cy="237744"/>
          </a:xfrm>
          <a:prstGeom prst="ellipse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041648"/>
            <a:ext cx="3566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Consent verified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4636008"/>
            <a:ext cx="237744" cy="237744"/>
          </a:xfrm>
          <a:prstGeom prst="ellipse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590288"/>
            <a:ext cx="3566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Independent witness ≠ performer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5184648"/>
            <a:ext cx="237744" cy="237744"/>
          </a:xfrm>
          <a:prstGeom prst="ellipse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138928"/>
            <a:ext cx="3566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21F20"/>
                </a:solidFill>
                <a:latin typeface="Lato"/>
              </a:rPr>
              <a:t>Blocks procedure until Passed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1792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6C7C7A"/>
                </a:solidFill>
                <a:latin typeface="Lato"/>
              </a:rPr>
              <a:t>Field-by-field content: OXar_Treatment_Cycle_Tab_Attributes.xlsx + 07-TREATMENT-PLANNING-TAB.md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F7D76"/>
                </a:solidFill>
                <a:latin typeface="Montserrat"/>
              </a:rPr>
              <a:t>CRYO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221F20"/>
                </a:solidFill>
                <a:latin typeface="Montserrat"/>
              </a:rPr>
              <a:t>Managing cryo tanks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92840" y="292608"/>
            <a:ext cx="566928" cy="45720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2F7D76"/>
                </a:solidFill>
                <a:latin typeface="Montserrat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221F20"/>
                </a:solidFill>
                <a:latin typeface="Lato"/>
              </a:rPr>
              <a:t>Three linked screens — see capacity at a glance, drill into the position hierarchy, and add / edit tanks and slots (manager-gated).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3611880" cy="109728"/>
          </a:xfrm>
          <a:prstGeom prst="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514600"/>
            <a:ext cx="2194560" cy="457200"/>
          </a:xfrm>
          <a:prstGeom prst="roundRect">
            <a:avLst/>
          </a:prstGeom>
          <a:solidFill>
            <a:srgbClr val="45A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TANK WALL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306324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Card per tank with a fill gauge + status pill (OK / Low N2 / Alarm). + Add tank.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94560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94560"/>
            <a:ext cx="3611880" cy="109728"/>
          </a:xfrm>
          <a:prstGeom prst="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17720" y="2514600"/>
            <a:ext cx="2194560" cy="457200"/>
          </a:xfrm>
          <a:prstGeom prst="roundRect">
            <a:avLst/>
          </a:prstGeom>
          <a:solidFill>
            <a:srgbClr val="2F7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TANK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154680"/>
            <a:ext cx="306324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Canister -&gt; Goblet -&gt; Straw/Vial tree; slots coloured by status &amp; type; add/edit/retire.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94560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194560"/>
            <a:ext cx="3611880" cy="109728"/>
          </a:xfrm>
          <a:prstGeom prst="rect">
            <a:avLst/>
          </a:prstGeom>
          <a:solidFill>
            <a:srgbClr val="7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2514600"/>
            <a:ext cx="2194560" cy="457200"/>
          </a:xfrm>
          <a:prstGeom prst="roundRect">
            <a:avLst/>
          </a:prstGeom>
          <a:solidFill>
            <a:srgbClr val="7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54680"/>
            <a:ext cx="306324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1F20"/>
                </a:solidFill>
                <a:latin typeface="Lato"/>
              </a:rPr>
              <a:t>Who's in this tank: patient, specimen ID, material, freeze date, goblet/straw.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09160"/>
            <a:ext cx="11247120" cy="1417320"/>
          </a:xfrm>
          <a:prstGeom prst="roundRect">
            <a:avLst/>
          </a:prstGeom>
          <a:solidFill>
            <a:srgbClr val="EA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28032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F7D76"/>
                </a:solidFill>
                <a:latin typeface="Lato"/>
              </a:rPr>
              <a:t>Backend (all in the OXAR solution): </a:t>
            </a:r>
            <a:r>
              <a:rPr sz="1300" b="1">
                <a:solidFill>
                  <a:srgbClr val="221F20"/>
                </a:solidFill>
                <a:latin typeface="Consolas"/>
              </a:rPr>
              <a:t>CryoTank + CryoLocation full CRUD + CryoTank/GetInventory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57800"/>
            <a:ext cx="107899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C7C7A"/>
                </a:solidFill>
                <a:latin typeface="Lato"/>
              </a:rPr>
              <a:t>Freeze picks a free slot → flips it Occupied; thaw frees it (→ Available), so the tank views always reflect live occupancy. Fill gauge: green &lt;80%, amber 80-95%, red ≥95%.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